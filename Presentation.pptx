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57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600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47FC3-24F2-48D9-B519-D50C53C20D04}" type="datetimeFigureOut">
              <a:rPr lang="ru-RU" smtClean="0"/>
              <a:t>23.11.2025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8E3D2-AEA0-4011-9906-3F8DFA132E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4070085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47FC3-24F2-48D9-B519-D50C53C20D04}" type="datetimeFigureOut">
              <a:rPr lang="ru-RU" smtClean="0"/>
              <a:t>23.11.2025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8E3D2-AEA0-4011-9906-3F8DFA132E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540271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47FC3-24F2-48D9-B519-D50C53C20D04}" type="datetimeFigureOut">
              <a:rPr lang="ru-RU" smtClean="0"/>
              <a:t>23.11.2025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8E3D2-AEA0-4011-9906-3F8DFA132E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755302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47FC3-24F2-48D9-B519-D50C53C20D04}" type="datetimeFigureOut">
              <a:rPr lang="ru-RU" smtClean="0"/>
              <a:t>23.11.2025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8E3D2-AEA0-4011-9906-3F8DFA132E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17471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47FC3-24F2-48D9-B519-D50C53C20D04}" type="datetimeFigureOut">
              <a:rPr lang="ru-RU" smtClean="0"/>
              <a:t>23.11.2025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8E3D2-AEA0-4011-9906-3F8DFA132E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8855114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47FC3-24F2-48D9-B519-D50C53C20D04}" type="datetimeFigureOut">
              <a:rPr lang="ru-RU" smtClean="0"/>
              <a:t>23.11.2025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8E3D2-AEA0-4011-9906-3F8DFA132E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5332930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47FC3-24F2-48D9-B519-D50C53C20D04}" type="datetimeFigureOut">
              <a:rPr lang="ru-RU" smtClean="0"/>
              <a:t>23.11.2025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8E3D2-AEA0-4011-9906-3F8DFA132E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7775418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47FC3-24F2-48D9-B519-D50C53C20D04}" type="datetimeFigureOut">
              <a:rPr lang="ru-RU" smtClean="0"/>
              <a:t>23.11.2025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8E3D2-AEA0-4011-9906-3F8DFA132E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8097469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47FC3-24F2-48D9-B519-D50C53C20D04}" type="datetimeFigureOut">
              <a:rPr lang="ru-RU" smtClean="0"/>
              <a:t>23.11.2025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8E3D2-AEA0-4011-9906-3F8DFA132E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1815983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47FC3-24F2-48D9-B519-D50C53C20D04}" type="datetimeFigureOut">
              <a:rPr lang="ru-RU" smtClean="0"/>
              <a:t>23.11.2025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8E3D2-AEA0-4011-9906-3F8DFA132E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363059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47FC3-24F2-48D9-B519-D50C53C20D04}" type="datetimeFigureOut">
              <a:rPr lang="ru-RU" smtClean="0"/>
              <a:t>23.11.2025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8E3D2-AEA0-4011-9906-3F8DFA132E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1414587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14F47FC3-24F2-48D9-B519-D50C53C20D04}" type="datetimeFigureOut">
              <a:rPr lang="ru-RU" smtClean="0"/>
              <a:t>23.11.2025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B428E3D2-AEA0-4011-9906-3F8DFA132E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4732436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F397AD5-06A8-ADF4-7F3F-291E88198979}"/>
              </a:ext>
            </a:extLst>
          </p:cNvPr>
          <p:cNvSpPr txBox="1"/>
          <p:nvPr/>
        </p:nvSpPr>
        <p:spPr>
          <a:xfrm>
            <a:off x="0" y="2321916"/>
            <a:ext cx="121920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6600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Решение задач 18, 23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20A5B2-39E3-75B2-673D-4D51A1D57EE4}"/>
              </a:ext>
            </a:extLst>
          </p:cNvPr>
          <p:cNvSpPr txBox="1"/>
          <p:nvPr/>
        </p:nvSpPr>
        <p:spPr>
          <a:xfrm>
            <a:off x="2281084" y="3552542"/>
            <a:ext cx="76298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Автор: Глеб Михайлович Гриценко</a:t>
            </a:r>
          </a:p>
        </p:txBody>
      </p: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1885BAE0-831F-7CC1-0328-BFECB278F342}"/>
              </a:ext>
            </a:extLst>
          </p:cNvPr>
          <p:cNvCxnSpPr>
            <a:cxnSpLocks/>
          </p:cNvCxnSpPr>
          <p:nvPr/>
        </p:nvCxnSpPr>
        <p:spPr>
          <a:xfrm>
            <a:off x="3401961" y="3429000"/>
            <a:ext cx="544707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2" name="Группа 21">
            <a:extLst>
              <a:ext uri="{FF2B5EF4-FFF2-40B4-BE49-F238E27FC236}">
                <a16:creationId xmlns:a16="http://schemas.microsoft.com/office/drawing/2014/main" id="{178B750E-19C2-DB13-CE1A-4B17FE4FEC44}"/>
              </a:ext>
            </a:extLst>
          </p:cNvPr>
          <p:cNvGrpSpPr/>
          <p:nvPr/>
        </p:nvGrpSpPr>
        <p:grpSpPr>
          <a:xfrm>
            <a:off x="4750092" y="4259468"/>
            <a:ext cx="2691816" cy="927470"/>
            <a:chOff x="4412934" y="4444663"/>
            <a:chExt cx="2691816" cy="927470"/>
          </a:xfrm>
        </p:grpSpPr>
        <p:pic>
          <p:nvPicPr>
            <p:cNvPr id="1028" name="Picture 4" descr="ЕГЭ">
              <a:extLst>
                <a:ext uri="{FF2B5EF4-FFF2-40B4-BE49-F238E27FC236}">
                  <a16:creationId xmlns:a16="http://schemas.microsoft.com/office/drawing/2014/main" id="{D2F702A4-C003-4D25-4C61-7666D69A2CB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4042"/>
            <a:stretch>
              <a:fillRect/>
            </a:stretch>
          </p:blipFill>
          <p:spPr bwMode="auto">
            <a:xfrm>
              <a:off x="4412934" y="4444663"/>
              <a:ext cx="1083626" cy="9274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" name="Знак умножения 19">
              <a:extLst>
                <a:ext uri="{FF2B5EF4-FFF2-40B4-BE49-F238E27FC236}">
                  <a16:creationId xmlns:a16="http://schemas.microsoft.com/office/drawing/2014/main" id="{8B64C4E7-E903-8078-43F7-34301CF3C60B}"/>
                </a:ext>
              </a:extLst>
            </p:cNvPr>
            <p:cNvSpPr/>
            <p:nvPr/>
          </p:nvSpPr>
          <p:spPr>
            <a:xfrm>
              <a:off x="5577840" y="4682490"/>
              <a:ext cx="518160" cy="461665"/>
            </a:xfrm>
            <a:prstGeom prst="mathMultiply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21" name="Picture 6">
              <a:extLst>
                <a:ext uri="{FF2B5EF4-FFF2-40B4-BE49-F238E27FC236}">
                  <a16:creationId xmlns:a16="http://schemas.microsoft.com/office/drawing/2014/main" id="{D19E3019-DF26-18C4-C8DA-EEA497C8959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77280" y="4444663"/>
              <a:ext cx="927470" cy="9274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55698842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382F4E-7B9E-1028-10A7-AE0883E0EF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AF7BFB7-ED42-8EF6-453F-C8C14AA6A942}"/>
              </a:ext>
            </a:extLst>
          </p:cNvPr>
          <p:cNvSpPr txBox="1"/>
          <p:nvPr/>
        </p:nvSpPr>
        <p:spPr>
          <a:xfrm>
            <a:off x="-1" y="445495"/>
            <a:ext cx="12191999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6600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Конспект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E12F1A5-3C12-E07B-FE61-E9819DACD417}"/>
              </a:ext>
            </a:extLst>
          </p:cNvPr>
          <p:cNvSpPr txBox="1"/>
          <p:nvPr/>
        </p:nvSpPr>
        <p:spPr>
          <a:xfrm>
            <a:off x="7616142" y="6396335"/>
            <a:ext cx="45758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2400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Решение 18, 23 задач</a:t>
            </a:r>
          </a:p>
        </p:txBody>
      </p:sp>
      <p:grpSp>
        <p:nvGrpSpPr>
          <p:cNvPr id="22" name="Группа 21">
            <a:extLst>
              <a:ext uri="{FF2B5EF4-FFF2-40B4-BE49-F238E27FC236}">
                <a16:creationId xmlns:a16="http://schemas.microsoft.com/office/drawing/2014/main" id="{D59A998D-8093-78F6-AB44-19CA83150A53}"/>
              </a:ext>
            </a:extLst>
          </p:cNvPr>
          <p:cNvGrpSpPr/>
          <p:nvPr/>
        </p:nvGrpSpPr>
        <p:grpSpPr>
          <a:xfrm>
            <a:off x="10734256" y="180600"/>
            <a:ext cx="1272362" cy="438394"/>
            <a:chOff x="4412934" y="4444663"/>
            <a:chExt cx="2691816" cy="927470"/>
          </a:xfrm>
        </p:grpSpPr>
        <p:pic>
          <p:nvPicPr>
            <p:cNvPr id="1028" name="Picture 4" descr="ЕГЭ">
              <a:extLst>
                <a:ext uri="{FF2B5EF4-FFF2-40B4-BE49-F238E27FC236}">
                  <a16:creationId xmlns:a16="http://schemas.microsoft.com/office/drawing/2014/main" id="{5EC60635-FC9D-0CCC-2489-555AB3198DF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4042"/>
            <a:stretch>
              <a:fillRect/>
            </a:stretch>
          </p:blipFill>
          <p:spPr bwMode="auto">
            <a:xfrm>
              <a:off x="4412934" y="4444663"/>
              <a:ext cx="1083626" cy="9274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" name="Знак умножения 19">
              <a:extLst>
                <a:ext uri="{FF2B5EF4-FFF2-40B4-BE49-F238E27FC236}">
                  <a16:creationId xmlns:a16="http://schemas.microsoft.com/office/drawing/2014/main" id="{E5F1B442-9A33-DE30-B188-317987593359}"/>
                </a:ext>
              </a:extLst>
            </p:cNvPr>
            <p:cNvSpPr/>
            <p:nvPr/>
          </p:nvSpPr>
          <p:spPr>
            <a:xfrm>
              <a:off x="5577840" y="4682490"/>
              <a:ext cx="518160" cy="461665"/>
            </a:xfrm>
            <a:prstGeom prst="mathMultiply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21" name="Picture 6">
              <a:extLst>
                <a:ext uri="{FF2B5EF4-FFF2-40B4-BE49-F238E27FC236}">
                  <a16:creationId xmlns:a16="http://schemas.microsoft.com/office/drawing/2014/main" id="{B71611FB-23CC-343D-4777-84754D7A57A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77280" y="4444663"/>
              <a:ext cx="927470" cy="9274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8" name="Рисунок 7" descr="Изображение выглядит как шаблон, Графика, прямоугольный, искусство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DAED955A-4BFA-080A-FB9C-4BAEF1C5843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5595" y="1288596"/>
            <a:ext cx="4280808" cy="4280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583461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05E091-E833-41CC-0CDF-A4FABFFD5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F140BB3-96CA-4856-93FB-E67356336D7D}"/>
              </a:ext>
            </a:extLst>
          </p:cNvPr>
          <p:cNvSpPr txBox="1"/>
          <p:nvPr/>
        </p:nvSpPr>
        <p:spPr>
          <a:xfrm>
            <a:off x="428451" y="180600"/>
            <a:ext cx="6433158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6600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Задача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884B7F-8463-4194-ED98-35C44C3A7E40}"/>
              </a:ext>
            </a:extLst>
          </p:cNvPr>
          <p:cNvSpPr txBox="1"/>
          <p:nvPr/>
        </p:nvSpPr>
        <p:spPr>
          <a:xfrm>
            <a:off x="7616142" y="6396335"/>
            <a:ext cx="45758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2400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Решение 18, 23 задач</a:t>
            </a:r>
          </a:p>
        </p:txBody>
      </p:sp>
      <p:grpSp>
        <p:nvGrpSpPr>
          <p:cNvPr id="22" name="Группа 21">
            <a:extLst>
              <a:ext uri="{FF2B5EF4-FFF2-40B4-BE49-F238E27FC236}">
                <a16:creationId xmlns:a16="http://schemas.microsoft.com/office/drawing/2014/main" id="{4F6A54EC-5AA8-782A-D57D-771705B34873}"/>
              </a:ext>
            </a:extLst>
          </p:cNvPr>
          <p:cNvGrpSpPr/>
          <p:nvPr/>
        </p:nvGrpSpPr>
        <p:grpSpPr>
          <a:xfrm>
            <a:off x="10734256" y="180600"/>
            <a:ext cx="1272362" cy="438394"/>
            <a:chOff x="4412934" y="4444663"/>
            <a:chExt cx="2691816" cy="927470"/>
          </a:xfrm>
        </p:grpSpPr>
        <p:pic>
          <p:nvPicPr>
            <p:cNvPr id="1028" name="Picture 4" descr="ЕГЭ">
              <a:extLst>
                <a:ext uri="{FF2B5EF4-FFF2-40B4-BE49-F238E27FC236}">
                  <a16:creationId xmlns:a16="http://schemas.microsoft.com/office/drawing/2014/main" id="{02F27865-0CDF-8081-6976-CAF079FC170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4042"/>
            <a:stretch>
              <a:fillRect/>
            </a:stretch>
          </p:blipFill>
          <p:spPr bwMode="auto">
            <a:xfrm>
              <a:off x="4412934" y="4444663"/>
              <a:ext cx="1083626" cy="9274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" name="Знак умножения 19">
              <a:extLst>
                <a:ext uri="{FF2B5EF4-FFF2-40B4-BE49-F238E27FC236}">
                  <a16:creationId xmlns:a16="http://schemas.microsoft.com/office/drawing/2014/main" id="{0621B7EE-02EF-DFB3-206A-FD4CFE758C23}"/>
                </a:ext>
              </a:extLst>
            </p:cNvPr>
            <p:cNvSpPr/>
            <p:nvPr/>
          </p:nvSpPr>
          <p:spPr>
            <a:xfrm>
              <a:off x="5577840" y="4682490"/>
              <a:ext cx="518160" cy="461665"/>
            </a:xfrm>
            <a:prstGeom prst="mathMultiply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21" name="Picture 6">
              <a:extLst>
                <a:ext uri="{FF2B5EF4-FFF2-40B4-BE49-F238E27FC236}">
                  <a16:creationId xmlns:a16="http://schemas.microsoft.com/office/drawing/2014/main" id="{0004BD66-E3A4-90CE-CBE9-690B150C9E6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77280" y="4444663"/>
              <a:ext cx="927470" cy="9274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9D094229-A2ED-BB1D-634A-4ED9C0847827}"/>
              </a:ext>
            </a:extLst>
          </p:cNvPr>
          <p:cNvSpPr txBox="1"/>
          <p:nvPr/>
        </p:nvSpPr>
        <p:spPr>
          <a:xfrm>
            <a:off x="1203767" y="1245507"/>
            <a:ext cx="10203574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Условие:</a:t>
            </a:r>
          </a:p>
          <a:p>
            <a:pPr algn="just"/>
            <a:r>
              <a:rPr lang="ru-RU" sz="2400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Исполнитель </a:t>
            </a:r>
            <a:r>
              <a:rPr lang="ru-RU" sz="2400" dirty="0" err="1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Остаточек</a:t>
            </a:r>
            <a:r>
              <a:rPr lang="ru-RU" sz="2400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 преобразует числа и имеет следующие команды: </a:t>
            </a:r>
            <a:endParaRPr lang="en-US" sz="2400" dirty="0"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  <a:p>
            <a:pPr algn="just"/>
            <a:r>
              <a:rPr lang="ru-RU" sz="2400" i="1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Прибавить 1</a:t>
            </a:r>
            <a:r>
              <a:rPr lang="ru-RU" sz="2400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 </a:t>
            </a:r>
            <a:endParaRPr lang="en-US" sz="2400" dirty="0"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  <a:p>
            <a:pPr algn="just"/>
            <a:r>
              <a:rPr lang="ru-RU" sz="2400" i="1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Умножить на 2 </a:t>
            </a:r>
            <a:endParaRPr lang="en-US" sz="2400" i="1" dirty="0"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  <a:p>
            <a:pPr algn="just"/>
            <a:r>
              <a:rPr lang="ru-RU" sz="2400" i="1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Прибавить остаток от деления на 4 </a:t>
            </a:r>
            <a:endParaRPr lang="en-US" sz="2400" i="1" dirty="0"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  <a:p>
            <a:pPr algn="just"/>
            <a:r>
              <a:rPr lang="ru-RU" sz="2400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Первая команда увеличивает число на единицу, вторая — увеличивает вдвое, третья команда добавляет к числу значение остатка от деления этого числа на 4. Определите, сколько существует чисел, из которых </a:t>
            </a:r>
            <a:r>
              <a:rPr lang="ru-RU" sz="2400" dirty="0" err="1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Остаточек</a:t>
            </a:r>
            <a:r>
              <a:rPr lang="ru-RU" sz="2400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 может получить число 80 с помощью программы длиной не более 5 команд.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4E2C5F7-DCB3-69E7-A833-D0541D72253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8001" y="1288596"/>
            <a:ext cx="545766" cy="757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406702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7A167-F991-EACF-1B32-C40935005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CEB8960-41C8-B106-50B0-D76A8A75164A}"/>
              </a:ext>
            </a:extLst>
          </p:cNvPr>
          <p:cNvSpPr txBox="1"/>
          <p:nvPr/>
        </p:nvSpPr>
        <p:spPr>
          <a:xfrm>
            <a:off x="428451" y="180600"/>
            <a:ext cx="6433158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6600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Задача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A816BE-C8CE-52C5-1E35-2938B0DCF31D}"/>
              </a:ext>
            </a:extLst>
          </p:cNvPr>
          <p:cNvSpPr txBox="1"/>
          <p:nvPr/>
        </p:nvSpPr>
        <p:spPr>
          <a:xfrm>
            <a:off x="7616142" y="6396335"/>
            <a:ext cx="45758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2400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Решение 18, 23 задач</a:t>
            </a:r>
          </a:p>
        </p:txBody>
      </p:sp>
      <p:grpSp>
        <p:nvGrpSpPr>
          <p:cNvPr id="22" name="Группа 21">
            <a:extLst>
              <a:ext uri="{FF2B5EF4-FFF2-40B4-BE49-F238E27FC236}">
                <a16:creationId xmlns:a16="http://schemas.microsoft.com/office/drawing/2014/main" id="{8A367FAB-1178-5E90-EA1C-44361B355E0B}"/>
              </a:ext>
            </a:extLst>
          </p:cNvPr>
          <p:cNvGrpSpPr/>
          <p:nvPr/>
        </p:nvGrpSpPr>
        <p:grpSpPr>
          <a:xfrm>
            <a:off x="10734256" y="180600"/>
            <a:ext cx="1272362" cy="438394"/>
            <a:chOff x="4412934" y="4444663"/>
            <a:chExt cx="2691816" cy="927470"/>
          </a:xfrm>
        </p:grpSpPr>
        <p:pic>
          <p:nvPicPr>
            <p:cNvPr id="1028" name="Picture 4" descr="ЕГЭ">
              <a:extLst>
                <a:ext uri="{FF2B5EF4-FFF2-40B4-BE49-F238E27FC236}">
                  <a16:creationId xmlns:a16="http://schemas.microsoft.com/office/drawing/2014/main" id="{8054F93A-97A7-E5BD-429F-1ED06962B78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4042"/>
            <a:stretch>
              <a:fillRect/>
            </a:stretch>
          </p:blipFill>
          <p:spPr bwMode="auto">
            <a:xfrm>
              <a:off x="4412934" y="4444663"/>
              <a:ext cx="1083626" cy="9274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" name="Знак умножения 19">
              <a:extLst>
                <a:ext uri="{FF2B5EF4-FFF2-40B4-BE49-F238E27FC236}">
                  <a16:creationId xmlns:a16="http://schemas.microsoft.com/office/drawing/2014/main" id="{438A0303-E49E-4C65-19AB-83BE0D81E947}"/>
                </a:ext>
              </a:extLst>
            </p:cNvPr>
            <p:cNvSpPr/>
            <p:nvPr/>
          </p:nvSpPr>
          <p:spPr>
            <a:xfrm>
              <a:off x="5577840" y="4682490"/>
              <a:ext cx="518160" cy="461665"/>
            </a:xfrm>
            <a:prstGeom prst="mathMultiply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21" name="Picture 6">
              <a:extLst>
                <a:ext uri="{FF2B5EF4-FFF2-40B4-BE49-F238E27FC236}">
                  <a16:creationId xmlns:a16="http://schemas.microsoft.com/office/drawing/2014/main" id="{E97EBF71-2B2F-11CD-00A8-42EEC030684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77280" y="4444663"/>
              <a:ext cx="927470" cy="9274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C75A284-9785-D23B-92B5-5141D2F97714}"/>
              </a:ext>
            </a:extLst>
          </p:cNvPr>
          <p:cNvSpPr txBox="1"/>
          <p:nvPr/>
        </p:nvSpPr>
        <p:spPr>
          <a:xfrm>
            <a:off x="1203767" y="1245507"/>
            <a:ext cx="10203574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Идея:</a:t>
            </a:r>
          </a:p>
          <a:p>
            <a:pPr marL="514350" indent="-514350" algn="just">
              <a:buAutoNum type="arabicPeriod"/>
            </a:pPr>
            <a:r>
              <a:rPr lang="ru-RU" sz="2400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Введём понятие допустимого количества шагов как переменную </a:t>
            </a:r>
            <a:r>
              <a:rPr lang="en-US" sz="2400" i="1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k</a:t>
            </a:r>
          </a:p>
          <a:p>
            <a:pPr marL="514350" indent="-514350" algn="just">
              <a:buAutoNum type="arabicPeriod"/>
            </a:pPr>
            <a:r>
              <a:rPr lang="ru-RU" sz="2400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Декларируем, что при допустимом количестве шагов </a:t>
            </a:r>
            <a:r>
              <a:rPr lang="en-US" sz="2400" i="1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k + 1 </a:t>
            </a:r>
            <a:r>
              <a:rPr lang="ru-RU" sz="2400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будут использоваться полученные значения при количестве равном </a:t>
            </a:r>
            <a:r>
              <a:rPr lang="en-US" sz="2400" i="1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k</a:t>
            </a:r>
          </a:p>
          <a:p>
            <a:pPr marL="514350" indent="-514350" algn="just">
              <a:buAutoNum type="arabicPeriod"/>
            </a:pPr>
            <a:r>
              <a:rPr lang="ru-RU" sz="2400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Объявим обратные операции как </a:t>
            </a:r>
            <a:endParaRPr lang="en-US" sz="2400" dirty="0"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  <a:p>
            <a:pPr marL="971550" lvl="1" indent="-514350" algn="just">
              <a:buAutoNum type="arabicPeriod"/>
            </a:pPr>
            <a:r>
              <a:rPr lang="en-US" sz="2400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-1, </a:t>
            </a:r>
          </a:p>
          <a:p>
            <a:pPr marL="971550" lvl="1" indent="-514350" algn="just">
              <a:buAutoNum type="arabicPeriod"/>
            </a:pPr>
            <a:r>
              <a:rPr lang="en-US" sz="2400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/2, </a:t>
            </a:r>
          </a:p>
          <a:p>
            <a:pPr marL="971550" lvl="1" indent="-514350" algn="just">
              <a:buAutoNum type="arabicPeriod"/>
            </a:pPr>
            <a:r>
              <a:rPr lang="en-US" sz="2400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- n % 4</a:t>
            </a:r>
            <a:endParaRPr lang="ru-RU" sz="2400" dirty="0"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1536336-7170-D5C4-DB81-07C1CEFC456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40443" y="1245507"/>
            <a:ext cx="763324" cy="843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25599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40F901-D0E3-C061-B123-C50D7A34C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7F098A-1940-A3DF-B6F2-FAB5FFFC1D74}"/>
              </a:ext>
            </a:extLst>
          </p:cNvPr>
          <p:cNvSpPr txBox="1"/>
          <p:nvPr/>
        </p:nvSpPr>
        <p:spPr>
          <a:xfrm>
            <a:off x="428451" y="180600"/>
            <a:ext cx="6433158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6600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Задача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7B1A7A-5214-C87C-F920-DC610D9F9F0A}"/>
              </a:ext>
            </a:extLst>
          </p:cNvPr>
          <p:cNvSpPr txBox="1"/>
          <p:nvPr/>
        </p:nvSpPr>
        <p:spPr>
          <a:xfrm>
            <a:off x="7616142" y="6396335"/>
            <a:ext cx="45758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2400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Решение 18, 23 задач</a:t>
            </a:r>
          </a:p>
        </p:txBody>
      </p:sp>
      <p:grpSp>
        <p:nvGrpSpPr>
          <p:cNvPr id="22" name="Группа 21">
            <a:extLst>
              <a:ext uri="{FF2B5EF4-FFF2-40B4-BE49-F238E27FC236}">
                <a16:creationId xmlns:a16="http://schemas.microsoft.com/office/drawing/2014/main" id="{248C2199-0DBA-7BC6-6BAB-856A1D594738}"/>
              </a:ext>
            </a:extLst>
          </p:cNvPr>
          <p:cNvGrpSpPr/>
          <p:nvPr/>
        </p:nvGrpSpPr>
        <p:grpSpPr>
          <a:xfrm>
            <a:off x="10734256" y="180600"/>
            <a:ext cx="1272362" cy="438394"/>
            <a:chOff x="4412934" y="4444663"/>
            <a:chExt cx="2691816" cy="927470"/>
          </a:xfrm>
        </p:grpSpPr>
        <p:pic>
          <p:nvPicPr>
            <p:cNvPr id="1028" name="Picture 4" descr="ЕГЭ">
              <a:extLst>
                <a:ext uri="{FF2B5EF4-FFF2-40B4-BE49-F238E27FC236}">
                  <a16:creationId xmlns:a16="http://schemas.microsoft.com/office/drawing/2014/main" id="{40C6E68B-0059-A82F-DF46-F2E05AADA71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4042"/>
            <a:stretch>
              <a:fillRect/>
            </a:stretch>
          </p:blipFill>
          <p:spPr bwMode="auto">
            <a:xfrm>
              <a:off x="4412934" y="4444663"/>
              <a:ext cx="1083626" cy="9274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" name="Знак умножения 19">
              <a:extLst>
                <a:ext uri="{FF2B5EF4-FFF2-40B4-BE49-F238E27FC236}">
                  <a16:creationId xmlns:a16="http://schemas.microsoft.com/office/drawing/2014/main" id="{5AC8EDBC-4F00-5CB7-217F-A41ECFFEBB33}"/>
                </a:ext>
              </a:extLst>
            </p:cNvPr>
            <p:cNvSpPr/>
            <p:nvPr/>
          </p:nvSpPr>
          <p:spPr>
            <a:xfrm>
              <a:off x="5577840" y="4682490"/>
              <a:ext cx="518160" cy="461665"/>
            </a:xfrm>
            <a:prstGeom prst="mathMultiply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21" name="Picture 6">
              <a:extLst>
                <a:ext uri="{FF2B5EF4-FFF2-40B4-BE49-F238E27FC236}">
                  <a16:creationId xmlns:a16="http://schemas.microsoft.com/office/drawing/2014/main" id="{B17D8645-962A-E4D9-38C2-E6ABF24D483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77280" y="4444663"/>
              <a:ext cx="927470" cy="9274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865519B1-59E0-E337-2F7B-792F46DDF899}"/>
              </a:ext>
            </a:extLst>
          </p:cNvPr>
          <p:cNvSpPr txBox="1"/>
          <p:nvPr/>
        </p:nvSpPr>
        <p:spPr>
          <a:xfrm>
            <a:off x="1203767" y="1245507"/>
            <a:ext cx="194454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Решим:</a:t>
            </a:r>
          </a:p>
          <a:p>
            <a:endParaRPr lang="ru-RU" sz="2400" dirty="0"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  <a:p>
            <a:endParaRPr lang="ru-RU" sz="3600" dirty="0"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B4F199D-CA44-6024-5E69-50B21B5A6B7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54787" y="1245507"/>
            <a:ext cx="648980" cy="980168"/>
          </a:xfrm>
          <a:prstGeom prst="rect">
            <a:avLst/>
          </a:prstGeom>
        </p:spPr>
      </p:pic>
      <p:sp>
        <p:nvSpPr>
          <p:cNvPr id="7" name="Овал 6">
            <a:extLst>
              <a:ext uri="{FF2B5EF4-FFF2-40B4-BE49-F238E27FC236}">
                <a16:creationId xmlns:a16="http://schemas.microsoft.com/office/drawing/2014/main" id="{FB7E908C-6223-F604-ADE8-C32053AC79B4}"/>
              </a:ext>
            </a:extLst>
          </p:cNvPr>
          <p:cNvSpPr/>
          <p:nvPr/>
        </p:nvSpPr>
        <p:spPr>
          <a:xfrm>
            <a:off x="5657855" y="1322537"/>
            <a:ext cx="876289" cy="869196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80</a:t>
            </a:r>
          </a:p>
        </p:txBody>
      </p:sp>
      <p:grpSp>
        <p:nvGrpSpPr>
          <p:cNvPr id="1029" name="Группа 1028">
            <a:extLst>
              <a:ext uri="{FF2B5EF4-FFF2-40B4-BE49-F238E27FC236}">
                <a16:creationId xmlns:a16="http://schemas.microsoft.com/office/drawing/2014/main" id="{3595A6C8-4F28-A14F-521C-82B38F01A7D5}"/>
              </a:ext>
            </a:extLst>
          </p:cNvPr>
          <p:cNvGrpSpPr/>
          <p:nvPr/>
        </p:nvGrpSpPr>
        <p:grpSpPr>
          <a:xfrm>
            <a:off x="4307475" y="1757134"/>
            <a:ext cx="3577049" cy="1918266"/>
            <a:chOff x="4307475" y="1757134"/>
            <a:chExt cx="3577049" cy="1918266"/>
          </a:xfrm>
        </p:grpSpPr>
        <p:sp>
          <p:nvSpPr>
            <p:cNvPr id="12" name="Овал 11">
              <a:extLst>
                <a:ext uri="{FF2B5EF4-FFF2-40B4-BE49-F238E27FC236}">
                  <a16:creationId xmlns:a16="http://schemas.microsoft.com/office/drawing/2014/main" id="{2B859BE6-FDBB-54AC-1977-15B60575B7D5}"/>
                </a:ext>
              </a:extLst>
            </p:cNvPr>
            <p:cNvSpPr/>
            <p:nvPr/>
          </p:nvSpPr>
          <p:spPr>
            <a:xfrm>
              <a:off x="4307475" y="2806204"/>
              <a:ext cx="876289" cy="869196"/>
            </a:xfrm>
            <a:prstGeom prst="ellipse">
              <a:avLst/>
            </a:prstGeom>
            <a:noFill/>
            <a:ln w="38100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  <a:latin typeface="JetBrains Mono NL" panose="02000009000000000000" pitchFamily="49" charset="0"/>
                  <a:ea typeface="JetBrains Mono NL" panose="02000009000000000000" pitchFamily="49" charset="0"/>
                  <a:cs typeface="JetBrains Mono NL" panose="02000009000000000000" pitchFamily="49" charset="0"/>
                </a:rPr>
                <a:t>40</a:t>
              </a:r>
              <a:endParaRPr lang="ru-RU" sz="2800" dirty="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endParaRPr>
            </a:p>
          </p:txBody>
        </p:sp>
        <p:sp>
          <p:nvSpPr>
            <p:cNvPr id="13" name="Овал 12">
              <a:extLst>
                <a:ext uri="{FF2B5EF4-FFF2-40B4-BE49-F238E27FC236}">
                  <a16:creationId xmlns:a16="http://schemas.microsoft.com/office/drawing/2014/main" id="{F922F9D1-D598-D8D3-1B99-F354489BBBED}"/>
                </a:ext>
              </a:extLst>
            </p:cNvPr>
            <p:cNvSpPr/>
            <p:nvPr/>
          </p:nvSpPr>
          <p:spPr>
            <a:xfrm>
              <a:off x="5657855" y="2806204"/>
              <a:ext cx="876289" cy="869196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  <a:latin typeface="JetBrains Mono NL" panose="02000009000000000000" pitchFamily="49" charset="0"/>
                  <a:ea typeface="JetBrains Mono NL" panose="02000009000000000000" pitchFamily="49" charset="0"/>
                  <a:cs typeface="JetBrains Mono NL" panose="02000009000000000000" pitchFamily="49" charset="0"/>
                </a:rPr>
                <a:t>78</a:t>
              </a:r>
              <a:endParaRPr lang="ru-RU" sz="2800" dirty="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endParaRPr>
            </a:p>
          </p:txBody>
        </p:sp>
        <p:sp>
          <p:nvSpPr>
            <p:cNvPr id="14" name="Овал 13">
              <a:extLst>
                <a:ext uri="{FF2B5EF4-FFF2-40B4-BE49-F238E27FC236}">
                  <a16:creationId xmlns:a16="http://schemas.microsoft.com/office/drawing/2014/main" id="{DA2EFC0F-6A54-9DF7-E913-70E518EA082A}"/>
                </a:ext>
              </a:extLst>
            </p:cNvPr>
            <p:cNvSpPr/>
            <p:nvPr/>
          </p:nvSpPr>
          <p:spPr>
            <a:xfrm>
              <a:off x="7008235" y="2806204"/>
              <a:ext cx="876289" cy="869196"/>
            </a:xfrm>
            <a:prstGeom prst="ellipse">
              <a:avLst/>
            </a:prstGeom>
            <a:noFill/>
            <a:ln w="381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  <a:latin typeface="JetBrains Mono NL" panose="02000009000000000000" pitchFamily="49" charset="0"/>
                  <a:ea typeface="JetBrains Mono NL" panose="02000009000000000000" pitchFamily="49" charset="0"/>
                  <a:cs typeface="JetBrains Mono NL" panose="02000009000000000000" pitchFamily="49" charset="0"/>
                </a:rPr>
                <a:t>79</a:t>
              </a:r>
              <a:endParaRPr lang="ru-RU" sz="2800" dirty="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endParaRPr>
            </a:p>
          </p:txBody>
        </p:sp>
        <p:cxnSp>
          <p:nvCxnSpPr>
            <p:cNvPr id="18" name="Соединитель: уступ 17">
              <a:extLst>
                <a:ext uri="{FF2B5EF4-FFF2-40B4-BE49-F238E27FC236}">
                  <a16:creationId xmlns:a16="http://schemas.microsoft.com/office/drawing/2014/main" id="{719DA162-A0B3-6F99-AC1E-8B307A5EAECE}"/>
                </a:ext>
              </a:extLst>
            </p:cNvPr>
            <p:cNvCxnSpPr>
              <a:stCxn id="7" idx="2"/>
              <a:endCxn id="12" idx="0"/>
            </p:cNvCxnSpPr>
            <p:nvPr/>
          </p:nvCxnSpPr>
          <p:spPr>
            <a:xfrm rot="10800000" flipV="1">
              <a:off x="4745621" y="1757134"/>
              <a:ext cx="912235" cy="1049069"/>
            </a:xfrm>
            <a:prstGeom prst="bentConnector2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Соединитель: уступ 18">
              <a:extLst>
                <a:ext uri="{FF2B5EF4-FFF2-40B4-BE49-F238E27FC236}">
                  <a16:creationId xmlns:a16="http://schemas.microsoft.com/office/drawing/2014/main" id="{AA2FADCE-50BD-1414-C379-DF2C194A945F}"/>
                </a:ext>
              </a:extLst>
            </p:cNvPr>
            <p:cNvCxnSpPr>
              <a:cxnSpLocks/>
              <a:stCxn id="7" idx="6"/>
              <a:endCxn id="14" idx="0"/>
            </p:cNvCxnSpPr>
            <p:nvPr/>
          </p:nvCxnSpPr>
          <p:spPr>
            <a:xfrm>
              <a:off x="6534144" y="1757135"/>
              <a:ext cx="912236" cy="1049069"/>
            </a:xfrm>
            <a:prstGeom prst="bentConnector2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 стрелкой 27">
              <a:extLst>
                <a:ext uri="{FF2B5EF4-FFF2-40B4-BE49-F238E27FC236}">
                  <a16:creationId xmlns:a16="http://schemas.microsoft.com/office/drawing/2014/main" id="{BDC322E8-83B4-1475-D9C6-D5BC109ECB5A}"/>
                </a:ext>
              </a:extLst>
            </p:cNvPr>
            <p:cNvCxnSpPr>
              <a:stCxn id="7" idx="4"/>
              <a:endCxn id="13" idx="0"/>
            </p:cNvCxnSpPr>
            <p:nvPr/>
          </p:nvCxnSpPr>
          <p:spPr>
            <a:xfrm>
              <a:off x="6096000" y="2191733"/>
              <a:ext cx="0" cy="614471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Овал 32">
            <a:extLst>
              <a:ext uri="{FF2B5EF4-FFF2-40B4-BE49-F238E27FC236}">
                <a16:creationId xmlns:a16="http://schemas.microsoft.com/office/drawing/2014/main" id="{21144DE2-0BBD-8E1F-9C70-6EA33384CDFC}"/>
              </a:ext>
            </a:extLst>
          </p:cNvPr>
          <p:cNvSpPr/>
          <p:nvPr/>
        </p:nvSpPr>
        <p:spPr>
          <a:xfrm>
            <a:off x="6669294" y="4593772"/>
            <a:ext cx="876289" cy="869196"/>
          </a:xfrm>
          <a:prstGeom prst="ellipse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75</a:t>
            </a:r>
            <a:endParaRPr lang="ru-RU" sz="2800" dirty="0">
              <a:solidFill>
                <a:schemeClr val="tx1"/>
              </a:solidFill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4" name="Овал 33">
            <a:extLst>
              <a:ext uri="{FF2B5EF4-FFF2-40B4-BE49-F238E27FC236}">
                <a16:creationId xmlns:a16="http://schemas.microsoft.com/office/drawing/2014/main" id="{C25925FC-EA7C-413C-E2C1-D8DC24D2F28A}"/>
              </a:ext>
            </a:extLst>
          </p:cNvPr>
          <p:cNvSpPr/>
          <p:nvPr/>
        </p:nvSpPr>
        <p:spPr>
          <a:xfrm>
            <a:off x="7648212" y="4601556"/>
            <a:ext cx="876289" cy="869196"/>
          </a:xfrm>
          <a:prstGeom prst="ellipse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77</a:t>
            </a:r>
            <a:endParaRPr lang="ru-RU" sz="2800" dirty="0">
              <a:solidFill>
                <a:schemeClr val="tx1"/>
              </a:solidFill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38" name="Овал 37">
            <a:extLst>
              <a:ext uri="{FF2B5EF4-FFF2-40B4-BE49-F238E27FC236}">
                <a16:creationId xmlns:a16="http://schemas.microsoft.com/office/drawing/2014/main" id="{07B6797E-D01F-AC2B-0F96-8B72F126AA19}"/>
              </a:ext>
            </a:extLst>
          </p:cNvPr>
          <p:cNvSpPr/>
          <p:nvPr/>
        </p:nvSpPr>
        <p:spPr>
          <a:xfrm>
            <a:off x="5684575" y="4593772"/>
            <a:ext cx="876289" cy="869196"/>
          </a:xfrm>
          <a:prstGeom prst="ellipse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39</a:t>
            </a:r>
            <a:endParaRPr lang="ru-RU" sz="2800" dirty="0">
              <a:solidFill>
                <a:schemeClr val="tx1"/>
              </a:solidFill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grpSp>
        <p:nvGrpSpPr>
          <p:cNvPr id="1030" name="Группа 1029">
            <a:extLst>
              <a:ext uri="{FF2B5EF4-FFF2-40B4-BE49-F238E27FC236}">
                <a16:creationId xmlns:a16="http://schemas.microsoft.com/office/drawing/2014/main" id="{D3577998-F50F-9EE3-9861-A5BCA001059C}"/>
              </a:ext>
            </a:extLst>
          </p:cNvPr>
          <p:cNvGrpSpPr/>
          <p:nvPr/>
        </p:nvGrpSpPr>
        <p:grpSpPr>
          <a:xfrm>
            <a:off x="2680933" y="3240802"/>
            <a:ext cx="2893366" cy="2222166"/>
            <a:chOff x="2680933" y="3240802"/>
            <a:chExt cx="2893366" cy="2222166"/>
          </a:xfrm>
        </p:grpSpPr>
        <p:sp>
          <p:nvSpPr>
            <p:cNvPr id="29" name="Овал 28">
              <a:extLst>
                <a:ext uri="{FF2B5EF4-FFF2-40B4-BE49-F238E27FC236}">
                  <a16:creationId xmlns:a16="http://schemas.microsoft.com/office/drawing/2014/main" id="{4F3B8B15-40AA-4FAB-996D-D333AEBA09EA}"/>
                </a:ext>
              </a:extLst>
            </p:cNvPr>
            <p:cNvSpPr/>
            <p:nvPr/>
          </p:nvSpPr>
          <p:spPr>
            <a:xfrm>
              <a:off x="4698010" y="4593772"/>
              <a:ext cx="876289" cy="869196"/>
            </a:xfrm>
            <a:prstGeom prst="ellipse">
              <a:avLst/>
            </a:prstGeom>
            <a:noFill/>
            <a:ln w="38100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  <a:latin typeface="JetBrains Mono NL" panose="02000009000000000000" pitchFamily="49" charset="0"/>
                  <a:ea typeface="JetBrains Mono NL" panose="02000009000000000000" pitchFamily="49" charset="0"/>
                  <a:cs typeface="JetBrains Mono NL" panose="02000009000000000000" pitchFamily="49" charset="0"/>
                </a:rPr>
                <a:t>39</a:t>
              </a:r>
              <a:endParaRPr lang="ru-RU" sz="2800" dirty="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endParaRPr>
            </a:p>
          </p:txBody>
        </p:sp>
        <p:sp>
          <p:nvSpPr>
            <p:cNvPr id="30" name="Овал 29">
              <a:extLst>
                <a:ext uri="{FF2B5EF4-FFF2-40B4-BE49-F238E27FC236}">
                  <a16:creationId xmlns:a16="http://schemas.microsoft.com/office/drawing/2014/main" id="{EEB68639-2524-B4E3-ECDA-CC0E6D9C0B56}"/>
                </a:ext>
              </a:extLst>
            </p:cNvPr>
            <p:cNvSpPr/>
            <p:nvPr/>
          </p:nvSpPr>
          <p:spPr>
            <a:xfrm>
              <a:off x="2680933" y="4593772"/>
              <a:ext cx="876289" cy="869196"/>
            </a:xfrm>
            <a:prstGeom prst="ellipse">
              <a:avLst/>
            </a:prstGeom>
            <a:noFill/>
            <a:ln w="38100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  <a:latin typeface="JetBrains Mono NL" panose="02000009000000000000" pitchFamily="49" charset="0"/>
                  <a:ea typeface="JetBrains Mono NL" panose="02000009000000000000" pitchFamily="49" charset="0"/>
                  <a:cs typeface="JetBrains Mono NL" panose="02000009000000000000" pitchFamily="49" charset="0"/>
                </a:rPr>
                <a:t>20</a:t>
              </a:r>
              <a:endParaRPr lang="ru-RU" sz="2800" dirty="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endParaRPr>
            </a:p>
          </p:txBody>
        </p:sp>
        <p:sp>
          <p:nvSpPr>
            <p:cNvPr id="31" name="Овал 30">
              <a:extLst>
                <a:ext uri="{FF2B5EF4-FFF2-40B4-BE49-F238E27FC236}">
                  <a16:creationId xmlns:a16="http://schemas.microsoft.com/office/drawing/2014/main" id="{923E5BD2-FCAA-A83B-F060-8D818314A18D}"/>
                </a:ext>
              </a:extLst>
            </p:cNvPr>
            <p:cNvSpPr/>
            <p:nvPr/>
          </p:nvSpPr>
          <p:spPr>
            <a:xfrm>
              <a:off x="3689471" y="4593772"/>
              <a:ext cx="876289" cy="869196"/>
            </a:xfrm>
            <a:prstGeom prst="ellipse">
              <a:avLst/>
            </a:prstGeom>
            <a:noFill/>
            <a:ln w="38100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  <a:latin typeface="JetBrains Mono NL" panose="02000009000000000000" pitchFamily="49" charset="0"/>
                  <a:ea typeface="JetBrains Mono NL" panose="02000009000000000000" pitchFamily="49" charset="0"/>
                  <a:cs typeface="JetBrains Mono NL" panose="02000009000000000000" pitchFamily="49" charset="0"/>
                </a:rPr>
                <a:t>38</a:t>
              </a:r>
              <a:endParaRPr lang="ru-RU" sz="2800" dirty="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endParaRPr>
            </a:p>
          </p:txBody>
        </p:sp>
        <p:cxnSp>
          <p:nvCxnSpPr>
            <p:cNvPr id="40" name="Соединитель: уступ 39">
              <a:extLst>
                <a:ext uri="{FF2B5EF4-FFF2-40B4-BE49-F238E27FC236}">
                  <a16:creationId xmlns:a16="http://schemas.microsoft.com/office/drawing/2014/main" id="{E6978A8F-6E6D-52DC-74C9-8E01B820D52C}"/>
                </a:ext>
              </a:extLst>
            </p:cNvPr>
            <p:cNvCxnSpPr>
              <a:cxnSpLocks/>
              <a:stCxn id="12" idx="2"/>
              <a:endCxn id="30" idx="0"/>
            </p:cNvCxnSpPr>
            <p:nvPr/>
          </p:nvCxnSpPr>
          <p:spPr>
            <a:xfrm rot="10800000" flipV="1">
              <a:off x="3119079" y="3240802"/>
              <a:ext cx="1188397" cy="1352970"/>
            </a:xfrm>
            <a:prstGeom prst="bentConnector2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Соединитель: уступ 42">
              <a:extLst>
                <a:ext uri="{FF2B5EF4-FFF2-40B4-BE49-F238E27FC236}">
                  <a16:creationId xmlns:a16="http://schemas.microsoft.com/office/drawing/2014/main" id="{065E3B24-EDD0-03AF-1499-FA6A05581599}"/>
                </a:ext>
              </a:extLst>
            </p:cNvPr>
            <p:cNvCxnSpPr>
              <a:cxnSpLocks/>
              <a:stCxn id="12" idx="4"/>
              <a:endCxn id="31" idx="0"/>
            </p:cNvCxnSpPr>
            <p:nvPr/>
          </p:nvCxnSpPr>
          <p:spPr>
            <a:xfrm rot="5400000">
              <a:off x="3977432" y="3825584"/>
              <a:ext cx="918372" cy="618004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Соединитель: уступ 46">
              <a:extLst>
                <a:ext uri="{FF2B5EF4-FFF2-40B4-BE49-F238E27FC236}">
                  <a16:creationId xmlns:a16="http://schemas.microsoft.com/office/drawing/2014/main" id="{B7F4F8D8-6835-DCAA-2B2D-218AB0D40A33}"/>
                </a:ext>
              </a:extLst>
            </p:cNvPr>
            <p:cNvCxnSpPr>
              <a:cxnSpLocks/>
              <a:stCxn id="12" idx="4"/>
              <a:endCxn id="29" idx="0"/>
            </p:cNvCxnSpPr>
            <p:nvPr/>
          </p:nvCxnSpPr>
          <p:spPr>
            <a:xfrm rot="16200000" flipH="1">
              <a:off x="4481701" y="3939318"/>
              <a:ext cx="918372" cy="390535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0" name="Соединитель: уступ 49">
            <a:extLst>
              <a:ext uri="{FF2B5EF4-FFF2-40B4-BE49-F238E27FC236}">
                <a16:creationId xmlns:a16="http://schemas.microsoft.com/office/drawing/2014/main" id="{4998E8AB-1C29-8E92-0103-2A0A30986B9F}"/>
              </a:ext>
            </a:extLst>
          </p:cNvPr>
          <p:cNvCxnSpPr>
            <a:cxnSpLocks/>
            <a:stCxn id="13" idx="3"/>
            <a:endCxn id="38" idx="0"/>
          </p:cNvCxnSpPr>
          <p:nvPr/>
        </p:nvCxnSpPr>
        <p:spPr>
          <a:xfrm rot="16200000" flipH="1">
            <a:off x="5431621" y="3902672"/>
            <a:ext cx="1045663" cy="336535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Соединитель: уступ 53">
            <a:extLst>
              <a:ext uri="{FF2B5EF4-FFF2-40B4-BE49-F238E27FC236}">
                <a16:creationId xmlns:a16="http://schemas.microsoft.com/office/drawing/2014/main" id="{2BB4908A-A403-99A2-C28A-25EA018C038A}"/>
              </a:ext>
            </a:extLst>
          </p:cNvPr>
          <p:cNvCxnSpPr>
            <a:cxnSpLocks/>
            <a:stCxn id="13" idx="5"/>
            <a:endCxn id="33" idx="0"/>
          </p:cNvCxnSpPr>
          <p:nvPr/>
        </p:nvCxnSpPr>
        <p:spPr>
          <a:xfrm rot="16200000" flipH="1">
            <a:off x="6233795" y="3720127"/>
            <a:ext cx="1045663" cy="701625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Соединитель: уступ 61">
            <a:extLst>
              <a:ext uri="{FF2B5EF4-FFF2-40B4-BE49-F238E27FC236}">
                <a16:creationId xmlns:a16="http://schemas.microsoft.com/office/drawing/2014/main" id="{438EA1A4-C6E2-95A5-180C-D073A9E13366}"/>
              </a:ext>
            </a:extLst>
          </p:cNvPr>
          <p:cNvCxnSpPr>
            <a:cxnSpLocks/>
            <a:stCxn id="13" idx="5"/>
            <a:endCxn id="34" idx="0"/>
          </p:cNvCxnSpPr>
          <p:nvPr/>
        </p:nvCxnSpPr>
        <p:spPr>
          <a:xfrm rot="16200000" flipH="1">
            <a:off x="6719362" y="3234560"/>
            <a:ext cx="1053447" cy="1680543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31" name="Группа 1030">
            <a:extLst>
              <a:ext uri="{FF2B5EF4-FFF2-40B4-BE49-F238E27FC236}">
                <a16:creationId xmlns:a16="http://schemas.microsoft.com/office/drawing/2014/main" id="{ED13EC47-D64E-03EC-C84F-FE58F0A517A8}"/>
              </a:ext>
            </a:extLst>
          </p:cNvPr>
          <p:cNvGrpSpPr/>
          <p:nvPr/>
        </p:nvGrpSpPr>
        <p:grpSpPr>
          <a:xfrm>
            <a:off x="7884524" y="3240802"/>
            <a:ext cx="1626542" cy="2237160"/>
            <a:chOff x="7884524" y="3240802"/>
            <a:chExt cx="1626542" cy="2237160"/>
          </a:xfrm>
        </p:grpSpPr>
        <p:sp>
          <p:nvSpPr>
            <p:cNvPr id="35" name="Овал 34">
              <a:extLst>
                <a:ext uri="{FF2B5EF4-FFF2-40B4-BE49-F238E27FC236}">
                  <a16:creationId xmlns:a16="http://schemas.microsoft.com/office/drawing/2014/main" id="{E38B5B48-D07C-5175-9AE2-AA1F7B357D64}"/>
                </a:ext>
              </a:extLst>
            </p:cNvPr>
            <p:cNvSpPr/>
            <p:nvPr/>
          </p:nvSpPr>
          <p:spPr>
            <a:xfrm>
              <a:off x="8634777" y="4608766"/>
              <a:ext cx="876289" cy="869196"/>
            </a:xfrm>
            <a:prstGeom prst="ellipse">
              <a:avLst/>
            </a:prstGeom>
            <a:noFill/>
            <a:ln w="381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  <a:latin typeface="JetBrains Mono NL" panose="02000009000000000000" pitchFamily="49" charset="0"/>
                  <a:ea typeface="JetBrains Mono NL" panose="02000009000000000000" pitchFamily="49" charset="0"/>
                  <a:cs typeface="JetBrains Mono NL" panose="02000009000000000000" pitchFamily="49" charset="0"/>
                </a:rPr>
                <a:t>78</a:t>
              </a:r>
              <a:endParaRPr lang="ru-RU" sz="2800" dirty="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endParaRPr>
            </a:p>
          </p:txBody>
        </p:sp>
        <p:cxnSp>
          <p:nvCxnSpPr>
            <p:cNvPr id="1025" name="Соединитель: уступ 1024">
              <a:extLst>
                <a:ext uri="{FF2B5EF4-FFF2-40B4-BE49-F238E27FC236}">
                  <a16:creationId xmlns:a16="http://schemas.microsoft.com/office/drawing/2014/main" id="{1BFAC9AF-F036-9E7B-7C9C-AEA628C48130}"/>
                </a:ext>
              </a:extLst>
            </p:cNvPr>
            <p:cNvCxnSpPr>
              <a:cxnSpLocks/>
              <a:stCxn id="14" idx="6"/>
              <a:endCxn id="35" idx="0"/>
            </p:cNvCxnSpPr>
            <p:nvPr/>
          </p:nvCxnSpPr>
          <p:spPr>
            <a:xfrm>
              <a:off x="7884524" y="3240802"/>
              <a:ext cx="1188398" cy="1367964"/>
            </a:xfrm>
            <a:prstGeom prst="bentConnector2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32" name="TextBox 1031">
            <a:extLst>
              <a:ext uri="{FF2B5EF4-FFF2-40B4-BE49-F238E27FC236}">
                <a16:creationId xmlns:a16="http://schemas.microsoft.com/office/drawing/2014/main" id="{1BD2A08F-BAB7-EF17-C468-12D2947B8E5B}"/>
              </a:ext>
            </a:extLst>
          </p:cNvPr>
          <p:cNvSpPr txBox="1"/>
          <p:nvPr/>
        </p:nvSpPr>
        <p:spPr>
          <a:xfrm>
            <a:off x="9761982" y="1573394"/>
            <a:ext cx="19445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i="1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k = 0</a:t>
            </a:r>
            <a:endParaRPr lang="ru-RU" sz="3200" i="1" dirty="0"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033" name="TextBox 1032">
            <a:extLst>
              <a:ext uri="{FF2B5EF4-FFF2-40B4-BE49-F238E27FC236}">
                <a16:creationId xmlns:a16="http://schemas.microsoft.com/office/drawing/2014/main" id="{AF49DBAE-BB94-252C-DB87-C7C847E209B2}"/>
              </a:ext>
            </a:extLst>
          </p:cNvPr>
          <p:cNvSpPr txBox="1"/>
          <p:nvPr/>
        </p:nvSpPr>
        <p:spPr>
          <a:xfrm>
            <a:off x="9761981" y="3160657"/>
            <a:ext cx="19445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i="1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k = 1</a:t>
            </a:r>
            <a:endParaRPr lang="ru-RU" sz="3200" i="1" dirty="0"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034" name="TextBox 1033">
            <a:extLst>
              <a:ext uri="{FF2B5EF4-FFF2-40B4-BE49-F238E27FC236}">
                <a16:creationId xmlns:a16="http://schemas.microsoft.com/office/drawing/2014/main" id="{E0D9E99A-ED4A-631C-EA2E-6771860BEA2B}"/>
              </a:ext>
            </a:extLst>
          </p:cNvPr>
          <p:cNvSpPr txBox="1"/>
          <p:nvPr/>
        </p:nvSpPr>
        <p:spPr>
          <a:xfrm>
            <a:off x="9761981" y="4699832"/>
            <a:ext cx="19445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i="1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k = 2</a:t>
            </a:r>
            <a:endParaRPr lang="ru-RU" sz="3200" i="1" dirty="0"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1037" name="Полилиния: фигура 1036">
            <a:extLst>
              <a:ext uri="{FF2B5EF4-FFF2-40B4-BE49-F238E27FC236}">
                <a16:creationId xmlns:a16="http://schemas.microsoft.com/office/drawing/2014/main" id="{3A9C9B56-C6DE-1CB1-29E2-AD8DF21BE2FB}"/>
              </a:ext>
            </a:extLst>
          </p:cNvPr>
          <p:cNvSpPr/>
          <p:nvPr/>
        </p:nvSpPr>
        <p:spPr>
          <a:xfrm>
            <a:off x="4561840" y="4165600"/>
            <a:ext cx="2214880" cy="1595120"/>
          </a:xfrm>
          <a:custGeom>
            <a:avLst/>
            <a:gdLst>
              <a:gd name="connsiteX0" fmla="*/ 1706880 w 2214880"/>
              <a:gd name="connsiteY0" fmla="*/ 0 h 1595120"/>
              <a:gd name="connsiteX1" fmla="*/ 1706880 w 2214880"/>
              <a:gd name="connsiteY1" fmla="*/ 0 h 1595120"/>
              <a:gd name="connsiteX2" fmla="*/ 1188720 w 2214880"/>
              <a:gd name="connsiteY2" fmla="*/ 162560 h 1595120"/>
              <a:gd name="connsiteX3" fmla="*/ 487680 w 2214880"/>
              <a:gd name="connsiteY3" fmla="*/ 193040 h 1595120"/>
              <a:gd name="connsiteX4" fmla="*/ 436880 w 2214880"/>
              <a:gd name="connsiteY4" fmla="*/ 213360 h 1595120"/>
              <a:gd name="connsiteX5" fmla="*/ 355600 w 2214880"/>
              <a:gd name="connsiteY5" fmla="*/ 284480 h 1595120"/>
              <a:gd name="connsiteX6" fmla="*/ 314960 w 2214880"/>
              <a:gd name="connsiteY6" fmla="*/ 314960 h 1595120"/>
              <a:gd name="connsiteX7" fmla="*/ 254000 w 2214880"/>
              <a:gd name="connsiteY7" fmla="*/ 365760 h 1595120"/>
              <a:gd name="connsiteX8" fmla="*/ 223520 w 2214880"/>
              <a:gd name="connsiteY8" fmla="*/ 416560 h 1595120"/>
              <a:gd name="connsiteX9" fmla="*/ 182880 w 2214880"/>
              <a:gd name="connsiteY9" fmla="*/ 467360 h 1595120"/>
              <a:gd name="connsiteX10" fmla="*/ 81280 w 2214880"/>
              <a:gd name="connsiteY10" fmla="*/ 650240 h 1595120"/>
              <a:gd name="connsiteX11" fmla="*/ 60960 w 2214880"/>
              <a:gd name="connsiteY11" fmla="*/ 731520 h 1595120"/>
              <a:gd name="connsiteX12" fmla="*/ 20320 w 2214880"/>
              <a:gd name="connsiteY12" fmla="*/ 802640 h 1595120"/>
              <a:gd name="connsiteX13" fmla="*/ 0 w 2214880"/>
              <a:gd name="connsiteY13" fmla="*/ 863600 h 1595120"/>
              <a:gd name="connsiteX14" fmla="*/ 10160 w 2214880"/>
              <a:gd name="connsiteY14" fmla="*/ 1127760 h 1595120"/>
              <a:gd name="connsiteX15" fmla="*/ 50800 w 2214880"/>
              <a:gd name="connsiteY15" fmla="*/ 1188720 h 1595120"/>
              <a:gd name="connsiteX16" fmla="*/ 132080 w 2214880"/>
              <a:gd name="connsiteY16" fmla="*/ 1361440 h 1595120"/>
              <a:gd name="connsiteX17" fmla="*/ 172720 w 2214880"/>
              <a:gd name="connsiteY17" fmla="*/ 1381760 h 1595120"/>
              <a:gd name="connsiteX18" fmla="*/ 233680 w 2214880"/>
              <a:gd name="connsiteY18" fmla="*/ 1422400 h 1595120"/>
              <a:gd name="connsiteX19" fmla="*/ 345440 w 2214880"/>
              <a:gd name="connsiteY19" fmla="*/ 1473200 h 1595120"/>
              <a:gd name="connsiteX20" fmla="*/ 477520 w 2214880"/>
              <a:gd name="connsiteY20" fmla="*/ 1544320 h 1595120"/>
              <a:gd name="connsiteX21" fmla="*/ 599440 w 2214880"/>
              <a:gd name="connsiteY21" fmla="*/ 1564640 h 1595120"/>
              <a:gd name="connsiteX22" fmla="*/ 701040 w 2214880"/>
              <a:gd name="connsiteY22" fmla="*/ 1595120 h 1595120"/>
              <a:gd name="connsiteX23" fmla="*/ 1270000 w 2214880"/>
              <a:gd name="connsiteY23" fmla="*/ 1574800 h 1595120"/>
              <a:gd name="connsiteX24" fmla="*/ 1330960 w 2214880"/>
              <a:gd name="connsiteY24" fmla="*/ 1554480 h 1595120"/>
              <a:gd name="connsiteX25" fmla="*/ 1432560 w 2214880"/>
              <a:gd name="connsiteY25" fmla="*/ 1544320 h 1595120"/>
              <a:gd name="connsiteX26" fmla="*/ 1595120 w 2214880"/>
              <a:gd name="connsiteY26" fmla="*/ 1473200 h 1595120"/>
              <a:gd name="connsiteX27" fmla="*/ 1737360 w 2214880"/>
              <a:gd name="connsiteY27" fmla="*/ 1391920 h 1595120"/>
              <a:gd name="connsiteX28" fmla="*/ 1818640 w 2214880"/>
              <a:gd name="connsiteY28" fmla="*/ 1351280 h 1595120"/>
              <a:gd name="connsiteX29" fmla="*/ 1899920 w 2214880"/>
              <a:gd name="connsiteY29" fmla="*/ 1280160 h 1595120"/>
              <a:gd name="connsiteX30" fmla="*/ 1940560 w 2214880"/>
              <a:gd name="connsiteY30" fmla="*/ 1259840 h 1595120"/>
              <a:gd name="connsiteX31" fmla="*/ 2001520 w 2214880"/>
              <a:gd name="connsiteY31" fmla="*/ 1188720 h 1595120"/>
              <a:gd name="connsiteX32" fmla="*/ 2021840 w 2214880"/>
              <a:gd name="connsiteY32" fmla="*/ 1148080 h 1595120"/>
              <a:gd name="connsiteX33" fmla="*/ 2052320 w 2214880"/>
              <a:gd name="connsiteY33" fmla="*/ 1076960 h 1595120"/>
              <a:gd name="connsiteX34" fmla="*/ 2113280 w 2214880"/>
              <a:gd name="connsiteY34" fmla="*/ 1016000 h 1595120"/>
              <a:gd name="connsiteX35" fmla="*/ 2133600 w 2214880"/>
              <a:gd name="connsiteY35" fmla="*/ 955040 h 1595120"/>
              <a:gd name="connsiteX36" fmla="*/ 2153920 w 2214880"/>
              <a:gd name="connsiteY36" fmla="*/ 853440 h 1595120"/>
              <a:gd name="connsiteX37" fmla="*/ 2184400 w 2214880"/>
              <a:gd name="connsiteY37" fmla="*/ 772160 h 1595120"/>
              <a:gd name="connsiteX38" fmla="*/ 2214880 w 2214880"/>
              <a:gd name="connsiteY38" fmla="*/ 609600 h 1595120"/>
              <a:gd name="connsiteX39" fmla="*/ 2194560 w 2214880"/>
              <a:gd name="connsiteY39" fmla="*/ 345440 h 1595120"/>
              <a:gd name="connsiteX40" fmla="*/ 2123440 w 2214880"/>
              <a:gd name="connsiteY40" fmla="*/ 254000 h 1595120"/>
              <a:gd name="connsiteX41" fmla="*/ 2103120 w 2214880"/>
              <a:gd name="connsiteY41" fmla="*/ 193040 h 1595120"/>
              <a:gd name="connsiteX42" fmla="*/ 2052320 w 2214880"/>
              <a:gd name="connsiteY42" fmla="*/ 152400 h 1595120"/>
              <a:gd name="connsiteX43" fmla="*/ 1889760 w 2214880"/>
              <a:gd name="connsiteY43" fmla="*/ 40640 h 1595120"/>
              <a:gd name="connsiteX44" fmla="*/ 1859280 w 2214880"/>
              <a:gd name="connsiteY44" fmla="*/ 30480 h 1595120"/>
              <a:gd name="connsiteX45" fmla="*/ 1706880 w 2214880"/>
              <a:gd name="connsiteY45" fmla="*/ 0 h 15951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</a:cxnLst>
            <a:rect l="l" t="t" r="r" b="b"/>
            <a:pathLst>
              <a:path w="2214880" h="1595120">
                <a:moveTo>
                  <a:pt x="1706880" y="0"/>
                </a:moveTo>
                <a:lnTo>
                  <a:pt x="1706880" y="0"/>
                </a:lnTo>
                <a:cubicBezTo>
                  <a:pt x="1555263" y="56315"/>
                  <a:pt x="1364089" y="150181"/>
                  <a:pt x="1188720" y="162560"/>
                </a:cubicBezTo>
                <a:cubicBezTo>
                  <a:pt x="955400" y="179030"/>
                  <a:pt x="721360" y="182880"/>
                  <a:pt x="487680" y="193040"/>
                </a:cubicBezTo>
                <a:cubicBezTo>
                  <a:pt x="470747" y="199813"/>
                  <a:pt x="452519" y="203977"/>
                  <a:pt x="436880" y="213360"/>
                </a:cubicBezTo>
                <a:cubicBezTo>
                  <a:pt x="384685" y="244677"/>
                  <a:pt x="394904" y="250791"/>
                  <a:pt x="355600" y="284480"/>
                </a:cubicBezTo>
                <a:cubicBezTo>
                  <a:pt x="342743" y="295500"/>
                  <a:pt x="326934" y="302986"/>
                  <a:pt x="314960" y="314960"/>
                </a:cubicBezTo>
                <a:cubicBezTo>
                  <a:pt x="257517" y="372403"/>
                  <a:pt x="341186" y="322167"/>
                  <a:pt x="254000" y="365760"/>
                </a:cubicBezTo>
                <a:cubicBezTo>
                  <a:pt x="243840" y="382693"/>
                  <a:pt x="234844" y="400382"/>
                  <a:pt x="223520" y="416560"/>
                </a:cubicBezTo>
                <a:cubicBezTo>
                  <a:pt x="211084" y="434325"/>
                  <a:pt x="194155" y="448836"/>
                  <a:pt x="182880" y="467360"/>
                </a:cubicBezTo>
                <a:cubicBezTo>
                  <a:pt x="146621" y="526928"/>
                  <a:pt x="81280" y="650240"/>
                  <a:pt x="81280" y="650240"/>
                </a:cubicBezTo>
                <a:cubicBezTo>
                  <a:pt x="74507" y="677333"/>
                  <a:pt x="71332" y="705590"/>
                  <a:pt x="60960" y="731520"/>
                </a:cubicBezTo>
                <a:cubicBezTo>
                  <a:pt x="50819" y="756871"/>
                  <a:pt x="31762" y="777849"/>
                  <a:pt x="20320" y="802640"/>
                </a:cubicBezTo>
                <a:cubicBezTo>
                  <a:pt x="11344" y="822088"/>
                  <a:pt x="6773" y="843280"/>
                  <a:pt x="0" y="863600"/>
                </a:cubicBezTo>
                <a:cubicBezTo>
                  <a:pt x="3387" y="951653"/>
                  <a:pt x="-3443" y="1040698"/>
                  <a:pt x="10160" y="1127760"/>
                </a:cubicBezTo>
                <a:cubicBezTo>
                  <a:pt x="13930" y="1151889"/>
                  <a:pt x="40881" y="1166403"/>
                  <a:pt x="50800" y="1188720"/>
                </a:cubicBezTo>
                <a:cubicBezTo>
                  <a:pt x="87892" y="1272177"/>
                  <a:pt x="69946" y="1307073"/>
                  <a:pt x="132080" y="1361440"/>
                </a:cubicBezTo>
                <a:cubicBezTo>
                  <a:pt x="143478" y="1371413"/>
                  <a:pt x="159733" y="1373968"/>
                  <a:pt x="172720" y="1381760"/>
                </a:cubicBezTo>
                <a:cubicBezTo>
                  <a:pt x="193661" y="1394325"/>
                  <a:pt x="212585" y="1410095"/>
                  <a:pt x="233680" y="1422400"/>
                </a:cubicBezTo>
                <a:cubicBezTo>
                  <a:pt x="484850" y="1568916"/>
                  <a:pt x="133946" y="1357840"/>
                  <a:pt x="345440" y="1473200"/>
                </a:cubicBezTo>
                <a:cubicBezTo>
                  <a:pt x="417596" y="1512558"/>
                  <a:pt x="394794" y="1520684"/>
                  <a:pt x="477520" y="1544320"/>
                </a:cubicBezTo>
                <a:cubicBezTo>
                  <a:pt x="726809" y="1615545"/>
                  <a:pt x="409006" y="1507510"/>
                  <a:pt x="599440" y="1564640"/>
                </a:cubicBezTo>
                <a:cubicBezTo>
                  <a:pt x="733107" y="1604740"/>
                  <a:pt x="569074" y="1568727"/>
                  <a:pt x="701040" y="1595120"/>
                </a:cubicBezTo>
                <a:cubicBezTo>
                  <a:pt x="890693" y="1588347"/>
                  <a:pt x="1080619" y="1587018"/>
                  <a:pt x="1270000" y="1574800"/>
                </a:cubicBezTo>
                <a:cubicBezTo>
                  <a:pt x="1291375" y="1573421"/>
                  <a:pt x="1309908" y="1558427"/>
                  <a:pt x="1330960" y="1554480"/>
                </a:cubicBezTo>
                <a:cubicBezTo>
                  <a:pt x="1364413" y="1548208"/>
                  <a:pt x="1398693" y="1547707"/>
                  <a:pt x="1432560" y="1544320"/>
                </a:cubicBezTo>
                <a:cubicBezTo>
                  <a:pt x="1553318" y="1483941"/>
                  <a:pt x="1498239" y="1505494"/>
                  <a:pt x="1595120" y="1473200"/>
                </a:cubicBezTo>
                <a:cubicBezTo>
                  <a:pt x="1700858" y="1393896"/>
                  <a:pt x="1542784" y="1508666"/>
                  <a:pt x="1737360" y="1391920"/>
                </a:cubicBezTo>
                <a:cubicBezTo>
                  <a:pt x="1797343" y="1355930"/>
                  <a:pt x="1769426" y="1367685"/>
                  <a:pt x="1818640" y="1351280"/>
                </a:cubicBezTo>
                <a:cubicBezTo>
                  <a:pt x="1850147" y="1319773"/>
                  <a:pt x="1862609" y="1303479"/>
                  <a:pt x="1899920" y="1280160"/>
                </a:cubicBezTo>
                <a:cubicBezTo>
                  <a:pt x="1912763" y="1272133"/>
                  <a:pt x="1927013" y="1266613"/>
                  <a:pt x="1940560" y="1259840"/>
                </a:cubicBezTo>
                <a:cubicBezTo>
                  <a:pt x="1992046" y="1156868"/>
                  <a:pt x="1922385" y="1281044"/>
                  <a:pt x="2001520" y="1188720"/>
                </a:cubicBezTo>
                <a:cubicBezTo>
                  <a:pt x="2011377" y="1177221"/>
                  <a:pt x="2015573" y="1161868"/>
                  <a:pt x="2021840" y="1148080"/>
                </a:cubicBezTo>
                <a:cubicBezTo>
                  <a:pt x="2032513" y="1124600"/>
                  <a:pt x="2037529" y="1098090"/>
                  <a:pt x="2052320" y="1076960"/>
                </a:cubicBezTo>
                <a:cubicBezTo>
                  <a:pt x="2106749" y="999204"/>
                  <a:pt x="2080668" y="1089377"/>
                  <a:pt x="2113280" y="1016000"/>
                </a:cubicBezTo>
                <a:cubicBezTo>
                  <a:pt x="2121979" y="996427"/>
                  <a:pt x="2128405" y="975820"/>
                  <a:pt x="2133600" y="955040"/>
                </a:cubicBezTo>
                <a:cubicBezTo>
                  <a:pt x="2148607" y="895012"/>
                  <a:pt x="2137034" y="904097"/>
                  <a:pt x="2153920" y="853440"/>
                </a:cubicBezTo>
                <a:cubicBezTo>
                  <a:pt x="2160206" y="834583"/>
                  <a:pt x="2179050" y="795345"/>
                  <a:pt x="2184400" y="772160"/>
                </a:cubicBezTo>
                <a:cubicBezTo>
                  <a:pt x="2199016" y="708824"/>
                  <a:pt x="2204854" y="669756"/>
                  <a:pt x="2214880" y="609600"/>
                </a:cubicBezTo>
                <a:cubicBezTo>
                  <a:pt x="2208107" y="521547"/>
                  <a:pt x="2216554" y="430971"/>
                  <a:pt x="2194560" y="345440"/>
                </a:cubicBezTo>
                <a:cubicBezTo>
                  <a:pt x="2184944" y="308043"/>
                  <a:pt x="2123440" y="254000"/>
                  <a:pt x="2123440" y="254000"/>
                </a:cubicBezTo>
                <a:cubicBezTo>
                  <a:pt x="2116667" y="233680"/>
                  <a:pt x="2115403" y="210587"/>
                  <a:pt x="2103120" y="193040"/>
                </a:cubicBezTo>
                <a:cubicBezTo>
                  <a:pt x="2090684" y="175275"/>
                  <a:pt x="2068366" y="166987"/>
                  <a:pt x="2052320" y="152400"/>
                </a:cubicBezTo>
                <a:cubicBezTo>
                  <a:pt x="1978701" y="85474"/>
                  <a:pt x="1998465" y="76875"/>
                  <a:pt x="1889760" y="40640"/>
                </a:cubicBezTo>
                <a:cubicBezTo>
                  <a:pt x="1879600" y="37253"/>
                  <a:pt x="1869990" y="30480"/>
                  <a:pt x="1859280" y="30480"/>
                </a:cubicBezTo>
                <a:cubicBezTo>
                  <a:pt x="1811746" y="30480"/>
                  <a:pt x="1732280" y="5080"/>
                  <a:pt x="1706880" y="0"/>
                </a:cubicBezTo>
                <a:close/>
              </a:path>
            </a:pathLst>
          </a:custGeom>
          <a:noFill/>
          <a:ln w="38100">
            <a:solidFill>
              <a:schemeClr val="accent6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8275014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000"/>
                                        <p:tgtEl>
                                          <p:spTgt spid="10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20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2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8" dur="2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4" dur="2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2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2" dur="2000"/>
                                        <p:tgtEl>
                                          <p:spTgt spid="10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7" dur="2000"/>
                                        <p:tgtEl>
                                          <p:spTgt spid="10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33" grpId="0" animBg="1"/>
      <p:bldP spid="34" grpId="0" animBg="1"/>
      <p:bldP spid="38" grpId="0" animBg="1"/>
      <p:bldP spid="103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A710C2-037F-1D98-F666-95F69F552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8B7ABA8-EA9F-0929-80B2-1642FDC2724D}"/>
              </a:ext>
            </a:extLst>
          </p:cNvPr>
          <p:cNvSpPr txBox="1"/>
          <p:nvPr/>
        </p:nvSpPr>
        <p:spPr>
          <a:xfrm>
            <a:off x="428451" y="180600"/>
            <a:ext cx="6433158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6600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Задача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B5DB291-05FD-A2B5-B679-C1FF96DB26F6}"/>
              </a:ext>
            </a:extLst>
          </p:cNvPr>
          <p:cNvSpPr txBox="1"/>
          <p:nvPr/>
        </p:nvSpPr>
        <p:spPr>
          <a:xfrm>
            <a:off x="7616142" y="6396335"/>
            <a:ext cx="45758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2400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Решение 18, 23 задач</a:t>
            </a:r>
          </a:p>
        </p:txBody>
      </p:sp>
      <p:grpSp>
        <p:nvGrpSpPr>
          <p:cNvPr id="22" name="Группа 21">
            <a:extLst>
              <a:ext uri="{FF2B5EF4-FFF2-40B4-BE49-F238E27FC236}">
                <a16:creationId xmlns:a16="http://schemas.microsoft.com/office/drawing/2014/main" id="{801FF69A-3C99-80FC-64E4-61B5B298B5AA}"/>
              </a:ext>
            </a:extLst>
          </p:cNvPr>
          <p:cNvGrpSpPr/>
          <p:nvPr/>
        </p:nvGrpSpPr>
        <p:grpSpPr>
          <a:xfrm>
            <a:off x="10734256" y="180600"/>
            <a:ext cx="1272362" cy="438394"/>
            <a:chOff x="4412934" y="4444663"/>
            <a:chExt cx="2691816" cy="927470"/>
          </a:xfrm>
        </p:grpSpPr>
        <p:pic>
          <p:nvPicPr>
            <p:cNvPr id="1028" name="Picture 4" descr="ЕГЭ">
              <a:extLst>
                <a:ext uri="{FF2B5EF4-FFF2-40B4-BE49-F238E27FC236}">
                  <a16:creationId xmlns:a16="http://schemas.microsoft.com/office/drawing/2014/main" id="{D34717D2-8216-05B7-B06D-20917BDCA03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4042"/>
            <a:stretch>
              <a:fillRect/>
            </a:stretch>
          </p:blipFill>
          <p:spPr bwMode="auto">
            <a:xfrm>
              <a:off x="4412934" y="4444663"/>
              <a:ext cx="1083626" cy="9274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" name="Знак умножения 19">
              <a:extLst>
                <a:ext uri="{FF2B5EF4-FFF2-40B4-BE49-F238E27FC236}">
                  <a16:creationId xmlns:a16="http://schemas.microsoft.com/office/drawing/2014/main" id="{78049EDC-324E-BB76-28FB-B50C8F9B5588}"/>
                </a:ext>
              </a:extLst>
            </p:cNvPr>
            <p:cNvSpPr/>
            <p:nvPr/>
          </p:nvSpPr>
          <p:spPr>
            <a:xfrm>
              <a:off x="5577840" y="4682490"/>
              <a:ext cx="518160" cy="461665"/>
            </a:xfrm>
            <a:prstGeom prst="mathMultiply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21" name="Picture 6">
              <a:extLst>
                <a:ext uri="{FF2B5EF4-FFF2-40B4-BE49-F238E27FC236}">
                  <a16:creationId xmlns:a16="http://schemas.microsoft.com/office/drawing/2014/main" id="{205276A1-C534-CF50-DED3-331D576EE6E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77280" y="4444663"/>
              <a:ext cx="927470" cy="9274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317702AE-D2AA-F467-277E-CC9A4446AFE0}"/>
              </a:ext>
            </a:extLst>
          </p:cNvPr>
          <p:cNvSpPr txBox="1"/>
          <p:nvPr/>
        </p:nvSpPr>
        <p:spPr>
          <a:xfrm>
            <a:off x="1203767" y="1245507"/>
            <a:ext cx="19445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Решим: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2BB67FF-A463-8FA2-6BF2-31AAD103DA8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54787" y="1245507"/>
            <a:ext cx="648980" cy="980168"/>
          </a:xfrm>
          <a:prstGeom prst="rect">
            <a:avLst/>
          </a:prstGeom>
        </p:spPr>
      </p:pic>
      <p:sp>
        <p:nvSpPr>
          <p:cNvPr id="3" name="Овал 2">
            <a:extLst>
              <a:ext uri="{FF2B5EF4-FFF2-40B4-BE49-F238E27FC236}">
                <a16:creationId xmlns:a16="http://schemas.microsoft.com/office/drawing/2014/main" id="{023DA255-186A-D6F3-2D06-C47A404C55F8}"/>
              </a:ext>
            </a:extLst>
          </p:cNvPr>
          <p:cNvSpPr/>
          <p:nvPr/>
        </p:nvSpPr>
        <p:spPr>
          <a:xfrm>
            <a:off x="1852747" y="2131937"/>
            <a:ext cx="876289" cy="869196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4</a:t>
            </a:r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3492EC18-22C3-812F-6830-D49C814898E7}"/>
              </a:ext>
            </a:extLst>
          </p:cNvPr>
          <p:cNvSpPr/>
          <p:nvPr/>
        </p:nvSpPr>
        <p:spPr>
          <a:xfrm>
            <a:off x="2768741" y="2131937"/>
            <a:ext cx="876289" cy="869196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5</a:t>
            </a:r>
          </a:p>
        </p:txBody>
      </p:sp>
      <p:sp>
        <p:nvSpPr>
          <p:cNvPr id="9" name="Овал 8">
            <a:extLst>
              <a:ext uri="{FF2B5EF4-FFF2-40B4-BE49-F238E27FC236}">
                <a16:creationId xmlns:a16="http://schemas.microsoft.com/office/drawing/2014/main" id="{EB7280CF-5C96-FC31-663D-A4FC8B9F560D}"/>
              </a:ext>
            </a:extLst>
          </p:cNvPr>
          <p:cNvSpPr/>
          <p:nvPr/>
        </p:nvSpPr>
        <p:spPr>
          <a:xfrm>
            <a:off x="3684735" y="2131937"/>
            <a:ext cx="876289" cy="869196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6</a:t>
            </a:r>
          </a:p>
        </p:txBody>
      </p:sp>
      <p:sp>
        <p:nvSpPr>
          <p:cNvPr id="10" name="Овал 9">
            <a:extLst>
              <a:ext uri="{FF2B5EF4-FFF2-40B4-BE49-F238E27FC236}">
                <a16:creationId xmlns:a16="http://schemas.microsoft.com/office/drawing/2014/main" id="{BFC65E8D-E9FA-97E9-722B-85B591ED1C86}"/>
              </a:ext>
            </a:extLst>
          </p:cNvPr>
          <p:cNvSpPr/>
          <p:nvPr/>
        </p:nvSpPr>
        <p:spPr>
          <a:xfrm>
            <a:off x="4600729" y="2131937"/>
            <a:ext cx="876289" cy="869196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7</a:t>
            </a:r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8B889FCC-59AF-A28D-FB39-1253B4834DBD}"/>
              </a:ext>
            </a:extLst>
          </p:cNvPr>
          <p:cNvSpPr/>
          <p:nvPr/>
        </p:nvSpPr>
        <p:spPr>
          <a:xfrm>
            <a:off x="5477018" y="2131937"/>
            <a:ext cx="876289" cy="869196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8</a:t>
            </a:r>
          </a:p>
        </p:txBody>
      </p:sp>
      <p:sp>
        <p:nvSpPr>
          <p:cNvPr id="15" name="Овал 14">
            <a:extLst>
              <a:ext uri="{FF2B5EF4-FFF2-40B4-BE49-F238E27FC236}">
                <a16:creationId xmlns:a16="http://schemas.microsoft.com/office/drawing/2014/main" id="{9E2874C2-ECA1-1B26-0879-F750892D3899}"/>
              </a:ext>
            </a:extLst>
          </p:cNvPr>
          <p:cNvSpPr/>
          <p:nvPr/>
        </p:nvSpPr>
        <p:spPr>
          <a:xfrm>
            <a:off x="6393012" y="2131937"/>
            <a:ext cx="876289" cy="869196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9</a:t>
            </a:r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3E0955DA-047E-B228-298E-36740760EB34}"/>
              </a:ext>
            </a:extLst>
          </p:cNvPr>
          <p:cNvSpPr/>
          <p:nvPr/>
        </p:nvSpPr>
        <p:spPr>
          <a:xfrm>
            <a:off x="7309006" y="2131937"/>
            <a:ext cx="876289" cy="869196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10</a:t>
            </a:r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5C62B940-7392-EF67-062A-8C844D69F2B5}"/>
              </a:ext>
            </a:extLst>
          </p:cNvPr>
          <p:cNvSpPr/>
          <p:nvPr/>
        </p:nvSpPr>
        <p:spPr>
          <a:xfrm>
            <a:off x="8225000" y="2131937"/>
            <a:ext cx="876289" cy="869196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14</a:t>
            </a:r>
          </a:p>
        </p:txBody>
      </p:sp>
      <p:sp>
        <p:nvSpPr>
          <p:cNvPr id="23" name="Овал 22">
            <a:extLst>
              <a:ext uri="{FF2B5EF4-FFF2-40B4-BE49-F238E27FC236}">
                <a16:creationId xmlns:a16="http://schemas.microsoft.com/office/drawing/2014/main" id="{51157AFE-731D-0999-F255-CB84641949B3}"/>
              </a:ext>
            </a:extLst>
          </p:cNvPr>
          <p:cNvSpPr/>
          <p:nvPr/>
        </p:nvSpPr>
        <p:spPr>
          <a:xfrm>
            <a:off x="9140994" y="2131937"/>
            <a:ext cx="876289" cy="869196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15</a:t>
            </a:r>
          </a:p>
        </p:txBody>
      </p:sp>
      <p:sp>
        <p:nvSpPr>
          <p:cNvPr id="24" name="Овал 23">
            <a:extLst>
              <a:ext uri="{FF2B5EF4-FFF2-40B4-BE49-F238E27FC236}">
                <a16:creationId xmlns:a16="http://schemas.microsoft.com/office/drawing/2014/main" id="{AE482759-BA66-2C38-C06E-B6AC6029BE93}"/>
              </a:ext>
            </a:extLst>
          </p:cNvPr>
          <p:cNvSpPr/>
          <p:nvPr/>
        </p:nvSpPr>
        <p:spPr>
          <a:xfrm>
            <a:off x="10056988" y="2131937"/>
            <a:ext cx="876289" cy="869196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16</a:t>
            </a:r>
          </a:p>
        </p:txBody>
      </p:sp>
      <p:sp>
        <p:nvSpPr>
          <p:cNvPr id="25" name="Овал 24">
            <a:extLst>
              <a:ext uri="{FF2B5EF4-FFF2-40B4-BE49-F238E27FC236}">
                <a16:creationId xmlns:a16="http://schemas.microsoft.com/office/drawing/2014/main" id="{0F6E2852-6FD6-6B8B-A14F-2BECC471A612}"/>
              </a:ext>
            </a:extLst>
          </p:cNvPr>
          <p:cNvSpPr/>
          <p:nvPr/>
        </p:nvSpPr>
        <p:spPr>
          <a:xfrm>
            <a:off x="1852747" y="3208974"/>
            <a:ext cx="876289" cy="869196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17</a:t>
            </a:r>
          </a:p>
        </p:txBody>
      </p:sp>
      <p:sp>
        <p:nvSpPr>
          <p:cNvPr id="26" name="Овал 25">
            <a:extLst>
              <a:ext uri="{FF2B5EF4-FFF2-40B4-BE49-F238E27FC236}">
                <a16:creationId xmlns:a16="http://schemas.microsoft.com/office/drawing/2014/main" id="{84B450F7-A141-0977-9F52-960127EBC0DA}"/>
              </a:ext>
            </a:extLst>
          </p:cNvPr>
          <p:cNvSpPr/>
          <p:nvPr/>
        </p:nvSpPr>
        <p:spPr>
          <a:xfrm>
            <a:off x="2768741" y="3208974"/>
            <a:ext cx="876289" cy="869196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18</a:t>
            </a:r>
          </a:p>
        </p:txBody>
      </p:sp>
      <p:sp>
        <p:nvSpPr>
          <p:cNvPr id="27" name="Овал 26">
            <a:extLst>
              <a:ext uri="{FF2B5EF4-FFF2-40B4-BE49-F238E27FC236}">
                <a16:creationId xmlns:a16="http://schemas.microsoft.com/office/drawing/2014/main" id="{5133F450-87B5-6331-1ABA-DC8E14018E92}"/>
              </a:ext>
            </a:extLst>
          </p:cNvPr>
          <p:cNvSpPr/>
          <p:nvPr/>
        </p:nvSpPr>
        <p:spPr>
          <a:xfrm>
            <a:off x="3684735" y="3208974"/>
            <a:ext cx="876289" cy="869196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19</a:t>
            </a:r>
          </a:p>
        </p:txBody>
      </p:sp>
      <p:sp>
        <p:nvSpPr>
          <p:cNvPr id="32" name="Овал 31">
            <a:extLst>
              <a:ext uri="{FF2B5EF4-FFF2-40B4-BE49-F238E27FC236}">
                <a16:creationId xmlns:a16="http://schemas.microsoft.com/office/drawing/2014/main" id="{6BB90298-7FEF-08F7-0E84-A2039973ADA1}"/>
              </a:ext>
            </a:extLst>
          </p:cNvPr>
          <p:cNvSpPr/>
          <p:nvPr/>
        </p:nvSpPr>
        <p:spPr>
          <a:xfrm>
            <a:off x="4600729" y="3208974"/>
            <a:ext cx="876289" cy="869196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20</a:t>
            </a:r>
          </a:p>
        </p:txBody>
      </p:sp>
      <p:sp>
        <p:nvSpPr>
          <p:cNvPr id="36" name="Овал 35">
            <a:extLst>
              <a:ext uri="{FF2B5EF4-FFF2-40B4-BE49-F238E27FC236}">
                <a16:creationId xmlns:a16="http://schemas.microsoft.com/office/drawing/2014/main" id="{2FB342F1-E444-6BF0-E095-52F17ECC1FF5}"/>
              </a:ext>
            </a:extLst>
          </p:cNvPr>
          <p:cNvSpPr/>
          <p:nvPr/>
        </p:nvSpPr>
        <p:spPr>
          <a:xfrm>
            <a:off x="5477018" y="3208974"/>
            <a:ext cx="876289" cy="869196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31</a:t>
            </a:r>
          </a:p>
        </p:txBody>
      </p:sp>
      <p:sp>
        <p:nvSpPr>
          <p:cNvPr id="37" name="Овал 36">
            <a:extLst>
              <a:ext uri="{FF2B5EF4-FFF2-40B4-BE49-F238E27FC236}">
                <a16:creationId xmlns:a16="http://schemas.microsoft.com/office/drawing/2014/main" id="{27EF45A5-DB85-7B59-7767-D7FF61B66542}"/>
              </a:ext>
            </a:extLst>
          </p:cNvPr>
          <p:cNvSpPr/>
          <p:nvPr/>
        </p:nvSpPr>
        <p:spPr>
          <a:xfrm>
            <a:off x="6393012" y="3208974"/>
            <a:ext cx="876289" cy="869196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33</a:t>
            </a:r>
          </a:p>
        </p:txBody>
      </p:sp>
      <p:sp>
        <p:nvSpPr>
          <p:cNvPr id="39" name="Овал 38">
            <a:extLst>
              <a:ext uri="{FF2B5EF4-FFF2-40B4-BE49-F238E27FC236}">
                <a16:creationId xmlns:a16="http://schemas.microsoft.com/office/drawing/2014/main" id="{99A6137F-7AF7-963A-E64B-8D037ED082A5}"/>
              </a:ext>
            </a:extLst>
          </p:cNvPr>
          <p:cNvSpPr/>
          <p:nvPr/>
        </p:nvSpPr>
        <p:spPr>
          <a:xfrm>
            <a:off x="7309006" y="3208974"/>
            <a:ext cx="876289" cy="869196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34</a:t>
            </a:r>
          </a:p>
        </p:txBody>
      </p:sp>
      <p:sp>
        <p:nvSpPr>
          <p:cNvPr id="41" name="Овал 40">
            <a:extLst>
              <a:ext uri="{FF2B5EF4-FFF2-40B4-BE49-F238E27FC236}">
                <a16:creationId xmlns:a16="http://schemas.microsoft.com/office/drawing/2014/main" id="{D4CB4715-3388-591A-5122-B1A6EFC51604}"/>
              </a:ext>
            </a:extLst>
          </p:cNvPr>
          <p:cNvSpPr/>
          <p:nvPr/>
        </p:nvSpPr>
        <p:spPr>
          <a:xfrm>
            <a:off x="8225000" y="3208974"/>
            <a:ext cx="876289" cy="869196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35</a:t>
            </a:r>
          </a:p>
        </p:txBody>
      </p:sp>
      <p:sp>
        <p:nvSpPr>
          <p:cNvPr id="42" name="Овал 41">
            <a:extLst>
              <a:ext uri="{FF2B5EF4-FFF2-40B4-BE49-F238E27FC236}">
                <a16:creationId xmlns:a16="http://schemas.microsoft.com/office/drawing/2014/main" id="{87C9AC48-38F6-44D4-2BEE-88EF892BF5B3}"/>
              </a:ext>
            </a:extLst>
          </p:cNvPr>
          <p:cNvSpPr/>
          <p:nvPr/>
        </p:nvSpPr>
        <p:spPr>
          <a:xfrm>
            <a:off x="9140994" y="3208974"/>
            <a:ext cx="876289" cy="869196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36</a:t>
            </a:r>
          </a:p>
        </p:txBody>
      </p:sp>
      <p:sp>
        <p:nvSpPr>
          <p:cNvPr id="44" name="Овал 43">
            <a:extLst>
              <a:ext uri="{FF2B5EF4-FFF2-40B4-BE49-F238E27FC236}">
                <a16:creationId xmlns:a16="http://schemas.microsoft.com/office/drawing/2014/main" id="{1B2E5B19-C75F-21CC-58D9-9EEEF026F0D6}"/>
              </a:ext>
            </a:extLst>
          </p:cNvPr>
          <p:cNvSpPr/>
          <p:nvPr/>
        </p:nvSpPr>
        <p:spPr>
          <a:xfrm>
            <a:off x="10056988" y="3208974"/>
            <a:ext cx="876289" cy="869196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37</a:t>
            </a:r>
          </a:p>
        </p:txBody>
      </p:sp>
      <p:sp>
        <p:nvSpPr>
          <p:cNvPr id="45" name="Овал 44">
            <a:extLst>
              <a:ext uri="{FF2B5EF4-FFF2-40B4-BE49-F238E27FC236}">
                <a16:creationId xmlns:a16="http://schemas.microsoft.com/office/drawing/2014/main" id="{883ED4E7-6B9C-2E5E-451C-0B70FAA86C23}"/>
              </a:ext>
            </a:extLst>
          </p:cNvPr>
          <p:cNvSpPr/>
          <p:nvPr/>
        </p:nvSpPr>
        <p:spPr>
          <a:xfrm>
            <a:off x="1852747" y="4249200"/>
            <a:ext cx="876289" cy="869196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38</a:t>
            </a:r>
          </a:p>
        </p:txBody>
      </p:sp>
      <p:sp>
        <p:nvSpPr>
          <p:cNvPr id="46" name="Овал 45">
            <a:extLst>
              <a:ext uri="{FF2B5EF4-FFF2-40B4-BE49-F238E27FC236}">
                <a16:creationId xmlns:a16="http://schemas.microsoft.com/office/drawing/2014/main" id="{1BF7A306-8EF4-A49E-3E56-3FCD6373A017}"/>
              </a:ext>
            </a:extLst>
          </p:cNvPr>
          <p:cNvSpPr/>
          <p:nvPr/>
        </p:nvSpPr>
        <p:spPr>
          <a:xfrm>
            <a:off x="2768741" y="4249200"/>
            <a:ext cx="876289" cy="869196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39</a:t>
            </a:r>
          </a:p>
        </p:txBody>
      </p:sp>
      <p:sp>
        <p:nvSpPr>
          <p:cNvPr id="48" name="Овал 47">
            <a:extLst>
              <a:ext uri="{FF2B5EF4-FFF2-40B4-BE49-F238E27FC236}">
                <a16:creationId xmlns:a16="http://schemas.microsoft.com/office/drawing/2014/main" id="{EDCD3FD8-8E5A-9BC8-98A6-B386892CFF54}"/>
              </a:ext>
            </a:extLst>
          </p:cNvPr>
          <p:cNvSpPr/>
          <p:nvPr/>
        </p:nvSpPr>
        <p:spPr>
          <a:xfrm>
            <a:off x="3684735" y="4249200"/>
            <a:ext cx="876289" cy="869196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40</a:t>
            </a:r>
          </a:p>
        </p:txBody>
      </p:sp>
      <p:sp>
        <p:nvSpPr>
          <p:cNvPr id="49" name="Овал 48">
            <a:extLst>
              <a:ext uri="{FF2B5EF4-FFF2-40B4-BE49-F238E27FC236}">
                <a16:creationId xmlns:a16="http://schemas.microsoft.com/office/drawing/2014/main" id="{BF17DF2D-FBC6-C22E-C0CA-DE3F3CFA395F}"/>
              </a:ext>
            </a:extLst>
          </p:cNvPr>
          <p:cNvSpPr/>
          <p:nvPr/>
        </p:nvSpPr>
        <p:spPr>
          <a:xfrm>
            <a:off x="4600729" y="4249200"/>
            <a:ext cx="876289" cy="869196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70</a:t>
            </a:r>
          </a:p>
        </p:txBody>
      </p:sp>
      <p:sp>
        <p:nvSpPr>
          <p:cNvPr id="51" name="Овал 50">
            <a:extLst>
              <a:ext uri="{FF2B5EF4-FFF2-40B4-BE49-F238E27FC236}">
                <a16:creationId xmlns:a16="http://schemas.microsoft.com/office/drawing/2014/main" id="{11348F7B-FC12-482D-9146-360F935C0B4B}"/>
              </a:ext>
            </a:extLst>
          </p:cNvPr>
          <p:cNvSpPr/>
          <p:nvPr/>
        </p:nvSpPr>
        <p:spPr>
          <a:xfrm>
            <a:off x="5477018" y="4249200"/>
            <a:ext cx="876289" cy="869196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71</a:t>
            </a:r>
          </a:p>
        </p:txBody>
      </p:sp>
      <p:sp>
        <p:nvSpPr>
          <p:cNvPr id="52" name="Овал 51">
            <a:extLst>
              <a:ext uri="{FF2B5EF4-FFF2-40B4-BE49-F238E27FC236}">
                <a16:creationId xmlns:a16="http://schemas.microsoft.com/office/drawing/2014/main" id="{8796827C-ECB0-4F95-8A6A-7E2750BD05F4}"/>
              </a:ext>
            </a:extLst>
          </p:cNvPr>
          <p:cNvSpPr/>
          <p:nvPr/>
        </p:nvSpPr>
        <p:spPr>
          <a:xfrm>
            <a:off x="6393012" y="4249200"/>
            <a:ext cx="876289" cy="869196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72</a:t>
            </a:r>
          </a:p>
        </p:txBody>
      </p:sp>
      <p:sp>
        <p:nvSpPr>
          <p:cNvPr id="53" name="Овал 52">
            <a:extLst>
              <a:ext uri="{FF2B5EF4-FFF2-40B4-BE49-F238E27FC236}">
                <a16:creationId xmlns:a16="http://schemas.microsoft.com/office/drawing/2014/main" id="{7F6B324B-1FEE-D886-FC5B-C0B94C9C28DE}"/>
              </a:ext>
            </a:extLst>
          </p:cNvPr>
          <p:cNvSpPr/>
          <p:nvPr/>
        </p:nvSpPr>
        <p:spPr>
          <a:xfrm>
            <a:off x="7309006" y="4249200"/>
            <a:ext cx="876289" cy="869196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73</a:t>
            </a:r>
          </a:p>
        </p:txBody>
      </p:sp>
      <p:sp>
        <p:nvSpPr>
          <p:cNvPr id="55" name="Овал 54">
            <a:extLst>
              <a:ext uri="{FF2B5EF4-FFF2-40B4-BE49-F238E27FC236}">
                <a16:creationId xmlns:a16="http://schemas.microsoft.com/office/drawing/2014/main" id="{F1B90709-0B31-15FF-5172-55DA356C1254}"/>
              </a:ext>
            </a:extLst>
          </p:cNvPr>
          <p:cNvSpPr/>
          <p:nvPr/>
        </p:nvSpPr>
        <p:spPr>
          <a:xfrm>
            <a:off x="8225000" y="4249200"/>
            <a:ext cx="876289" cy="869196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74</a:t>
            </a:r>
          </a:p>
        </p:txBody>
      </p:sp>
      <p:sp>
        <p:nvSpPr>
          <p:cNvPr id="56" name="Овал 55">
            <a:extLst>
              <a:ext uri="{FF2B5EF4-FFF2-40B4-BE49-F238E27FC236}">
                <a16:creationId xmlns:a16="http://schemas.microsoft.com/office/drawing/2014/main" id="{C5FE849E-1E6A-2566-AED9-7969D64A63FD}"/>
              </a:ext>
            </a:extLst>
          </p:cNvPr>
          <p:cNvSpPr/>
          <p:nvPr/>
        </p:nvSpPr>
        <p:spPr>
          <a:xfrm>
            <a:off x="9140994" y="4249200"/>
            <a:ext cx="876289" cy="869196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75</a:t>
            </a:r>
          </a:p>
        </p:txBody>
      </p:sp>
      <p:sp>
        <p:nvSpPr>
          <p:cNvPr id="57" name="Овал 56">
            <a:extLst>
              <a:ext uri="{FF2B5EF4-FFF2-40B4-BE49-F238E27FC236}">
                <a16:creationId xmlns:a16="http://schemas.microsoft.com/office/drawing/2014/main" id="{4D947DD6-7D6A-F3E3-8D4D-1F29F6CA066F}"/>
              </a:ext>
            </a:extLst>
          </p:cNvPr>
          <p:cNvSpPr/>
          <p:nvPr/>
        </p:nvSpPr>
        <p:spPr>
          <a:xfrm>
            <a:off x="10056988" y="4249200"/>
            <a:ext cx="876289" cy="869196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76</a:t>
            </a:r>
          </a:p>
        </p:txBody>
      </p:sp>
      <p:sp>
        <p:nvSpPr>
          <p:cNvPr id="58" name="Овал 57">
            <a:extLst>
              <a:ext uri="{FF2B5EF4-FFF2-40B4-BE49-F238E27FC236}">
                <a16:creationId xmlns:a16="http://schemas.microsoft.com/office/drawing/2014/main" id="{2903692E-3A68-F06E-E0BD-B1E10961FC61}"/>
              </a:ext>
            </a:extLst>
          </p:cNvPr>
          <p:cNvSpPr/>
          <p:nvPr/>
        </p:nvSpPr>
        <p:spPr>
          <a:xfrm>
            <a:off x="1852747" y="5289426"/>
            <a:ext cx="876289" cy="869196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77</a:t>
            </a:r>
          </a:p>
        </p:txBody>
      </p:sp>
      <p:sp>
        <p:nvSpPr>
          <p:cNvPr id="59" name="Овал 58">
            <a:extLst>
              <a:ext uri="{FF2B5EF4-FFF2-40B4-BE49-F238E27FC236}">
                <a16:creationId xmlns:a16="http://schemas.microsoft.com/office/drawing/2014/main" id="{4B22F080-83F3-DD9A-BBFB-95B3E24C6BE5}"/>
              </a:ext>
            </a:extLst>
          </p:cNvPr>
          <p:cNvSpPr/>
          <p:nvPr/>
        </p:nvSpPr>
        <p:spPr>
          <a:xfrm>
            <a:off x="2768741" y="5289426"/>
            <a:ext cx="876289" cy="869196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78</a:t>
            </a:r>
          </a:p>
        </p:txBody>
      </p:sp>
      <p:sp>
        <p:nvSpPr>
          <p:cNvPr id="60" name="Овал 59">
            <a:extLst>
              <a:ext uri="{FF2B5EF4-FFF2-40B4-BE49-F238E27FC236}">
                <a16:creationId xmlns:a16="http://schemas.microsoft.com/office/drawing/2014/main" id="{FAFB1B8D-AC01-E3EE-B85A-5CF4BF747730}"/>
              </a:ext>
            </a:extLst>
          </p:cNvPr>
          <p:cNvSpPr/>
          <p:nvPr/>
        </p:nvSpPr>
        <p:spPr>
          <a:xfrm>
            <a:off x="3684735" y="5289426"/>
            <a:ext cx="876289" cy="869196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79</a:t>
            </a:r>
          </a:p>
        </p:txBody>
      </p:sp>
      <p:sp>
        <p:nvSpPr>
          <p:cNvPr id="61" name="Овал 60">
            <a:extLst>
              <a:ext uri="{FF2B5EF4-FFF2-40B4-BE49-F238E27FC236}">
                <a16:creationId xmlns:a16="http://schemas.microsoft.com/office/drawing/2014/main" id="{6E5F4151-9EAE-CD22-BD11-B19FBE08FB21}"/>
              </a:ext>
            </a:extLst>
          </p:cNvPr>
          <p:cNvSpPr/>
          <p:nvPr/>
        </p:nvSpPr>
        <p:spPr>
          <a:xfrm>
            <a:off x="4600729" y="5289426"/>
            <a:ext cx="876289" cy="869196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80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35F6273-5A9B-47C9-2475-FB93C5001974}"/>
              </a:ext>
            </a:extLst>
          </p:cNvPr>
          <p:cNvSpPr txBox="1"/>
          <p:nvPr/>
        </p:nvSpPr>
        <p:spPr>
          <a:xfrm>
            <a:off x="5915162" y="5434200"/>
            <a:ext cx="31861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Ответ: 34</a:t>
            </a:r>
          </a:p>
        </p:txBody>
      </p:sp>
    </p:spTree>
    <p:extLst>
      <p:ext uri="{BB962C8B-B14F-4D97-AF65-F5344CB8AC3E}">
        <p14:creationId xmlns:p14="http://schemas.microsoft.com/office/powerpoint/2010/main" val="6478680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3000"/>
                            </p:stCondLst>
                            <p:childTnLst>
                              <p:par>
                                <p:cTn id="4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3500"/>
                            </p:stCondLst>
                            <p:childTnLst>
                              <p:par>
                                <p:cTn id="5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7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4000"/>
                            </p:stCondLst>
                            <p:childTnLst>
                              <p:par>
                                <p:cTn id="6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4500"/>
                            </p:stCondLst>
                            <p:childTnLst>
                              <p:par>
                                <p:cTn id="6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4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5000"/>
                            </p:stCondLst>
                            <p:childTnLst>
                              <p:par>
                                <p:cTn id="7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5500"/>
                            </p:stCondLst>
                            <p:childTnLst>
                              <p:par>
                                <p:cTn id="8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2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6000"/>
                            </p:stCondLst>
                            <p:childTnLst>
                              <p:par>
                                <p:cTn id="8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7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6500"/>
                            </p:stCondLst>
                            <p:childTnLst>
                              <p:par>
                                <p:cTn id="9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32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7000"/>
                            </p:stCondLst>
                            <p:childTnLst>
                              <p:par>
                                <p:cTn id="10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3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" fill="hold">
                            <p:stCondLst>
                              <p:cond delay="7500"/>
                            </p:stCondLst>
                            <p:childTnLst>
                              <p:par>
                                <p:cTn id="1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37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8000"/>
                            </p:stCondLst>
                            <p:childTnLst>
                              <p:par>
                                <p:cTn id="1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39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" fill="hold">
                            <p:stCondLst>
                              <p:cond delay="8500"/>
                            </p:stCondLst>
                            <p:childTnLst>
                              <p:par>
                                <p:cTn id="1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41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0" fill="hold">
                            <p:stCondLst>
                              <p:cond delay="9000"/>
                            </p:stCondLst>
                            <p:childTnLst>
                              <p:par>
                                <p:cTn id="1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42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7" fill="hold">
                            <p:stCondLst>
                              <p:cond delay="9500"/>
                            </p:stCondLst>
                            <p:childTnLst>
                              <p:par>
                                <p:cTn id="13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44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4" fill="hold">
                            <p:stCondLst>
                              <p:cond delay="10000"/>
                            </p:stCondLst>
                            <p:childTnLst>
                              <p:par>
                                <p:cTn id="1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4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1" fill="hold">
                            <p:stCondLst>
                              <p:cond delay="10500"/>
                            </p:stCondLst>
                            <p:childTnLst>
                              <p:par>
                                <p:cTn id="1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500"/>
                                        <p:tgtEl>
                                          <p:spTgt spid="4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500"/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8" fill="hold">
                            <p:stCondLst>
                              <p:cond delay="11000"/>
                            </p:stCondLst>
                            <p:childTnLst>
                              <p:par>
                                <p:cTn id="15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500"/>
                                        <p:tgtEl>
                                          <p:spTgt spid="48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500"/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5" fill="hold">
                            <p:stCondLst>
                              <p:cond delay="11500"/>
                            </p:stCondLst>
                            <p:childTnLst>
                              <p:par>
                                <p:cTn id="16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49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2" fill="hold">
                            <p:stCondLst>
                              <p:cond delay="12000"/>
                            </p:stCondLst>
                            <p:childTnLst>
                              <p:par>
                                <p:cTn id="17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500"/>
                                        <p:tgtEl>
                                          <p:spTgt spid="51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500"/>
                                        <p:tgtEl>
                                          <p:spTgt spid="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9" fill="hold">
                            <p:stCondLst>
                              <p:cond delay="12500"/>
                            </p:stCondLst>
                            <p:childTnLst>
                              <p:par>
                                <p:cTn id="18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500"/>
                                        <p:tgtEl>
                                          <p:spTgt spid="52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500"/>
                                        <p:tgtEl>
                                          <p:spTgt spid="5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6" fill="hold">
                            <p:stCondLst>
                              <p:cond delay="13000"/>
                            </p:stCondLst>
                            <p:childTnLst>
                              <p:par>
                                <p:cTn id="18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5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3" fill="hold">
                            <p:stCondLst>
                              <p:cond delay="13500"/>
                            </p:stCondLst>
                            <p:childTnLst>
                              <p:par>
                                <p:cTn id="19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" dur="500"/>
                                        <p:tgtEl>
                                          <p:spTgt spid="5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500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0" fill="hold">
                            <p:stCondLst>
                              <p:cond delay="14000"/>
                            </p:stCondLst>
                            <p:childTnLst>
                              <p:par>
                                <p:cTn id="20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500"/>
                                        <p:tgtEl>
                                          <p:spTgt spid="5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6" dur="500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7" fill="hold">
                            <p:stCondLst>
                              <p:cond delay="14500"/>
                            </p:stCondLst>
                            <p:childTnLst>
                              <p:par>
                                <p:cTn id="20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0" dur="500"/>
                                        <p:tgtEl>
                                          <p:spTgt spid="57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5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4" fill="hold">
                            <p:stCondLst>
                              <p:cond delay="15000"/>
                            </p:stCondLst>
                            <p:childTnLst>
                              <p:par>
                                <p:cTn id="2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7" dur="500"/>
                                        <p:tgtEl>
                                          <p:spTgt spid="58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0" dur="5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1" fill="hold">
                            <p:stCondLst>
                              <p:cond delay="15500"/>
                            </p:stCondLst>
                            <p:childTnLst>
                              <p:par>
                                <p:cTn id="2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4" dur="500"/>
                                        <p:tgtEl>
                                          <p:spTgt spid="59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500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8" fill="hold">
                            <p:stCondLst>
                              <p:cond delay="16000"/>
                            </p:stCondLst>
                            <p:childTnLst>
                              <p:par>
                                <p:cTn id="2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1" dur="500"/>
                                        <p:tgtEl>
                                          <p:spTgt spid="60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4" dur="500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5" fill="hold">
                            <p:stCondLst>
                              <p:cond delay="16500"/>
                            </p:stCondLst>
                            <p:childTnLst>
                              <p:par>
                                <p:cTn id="2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8" dur="500"/>
                                        <p:tgtEl>
                                          <p:spTgt spid="61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1" dur="5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2" fill="hold">
                            <p:stCondLst>
                              <p:cond delay="17000"/>
                            </p:stCondLst>
                            <p:childTnLst>
                              <p:par>
                                <p:cTn id="2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5" dur="500"/>
                                        <p:tgtEl>
                                          <p:spTgt spid="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allAtOnce" animBg="1"/>
      <p:bldP spid="8" grpId="0" build="allAtOnce" animBg="1"/>
      <p:bldP spid="9" grpId="0" build="allAtOnce" animBg="1"/>
      <p:bldP spid="10" grpId="0" build="allAtOnce" animBg="1"/>
      <p:bldP spid="11" grpId="0" build="allAtOnce" animBg="1"/>
      <p:bldP spid="15" grpId="0" build="allAtOnce" animBg="1"/>
      <p:bldP spid="16" grpId="0" build="allAtOnce" animBg="1"/>
      <p:bldP spid="17" grpId="0" build="allAtOnce" animBg="1"/>
      <p:bldP spid="23" grpId="0" build="allAtOnce" animBg="1"/>
      <p:bldP spid="24" grpId="0" build="allAtOnce" animBg="1"/>
      <p:bldP spid="25" grpId="0" build="allAtOnce" animBg="1"/>
      <p:bldP spid="26" grpId="0" build="allAtOnce" animBg="1"/>
      <p:bldP spid="27" grpId="0" build="allAtOnce" animBg="1"/>
      <p:bldP spid="32" grpId="0" build="allAtOnce" animBg="1"/>
      <p:bldP spid="36" grpId="0" build="allAtOnce" animBg="1"/>
      <p:bldP spid="37" grpId="0" build="allAtOnce" animBg="1"/>
      <p:bldP spid="39" grpId="0" build="allAtOnce" animBg="1"/>
      <p:bldP spid="41" grpId="0" build="allAtOnce" animBg="1"/>
      <p:bldP spid="42" grpId="0" build="allAtOnce" animBg="1"/>
      <p:bldP spid="44" grpId="0" build="allAtOnce" animBg="1"/>
      <p:bldP spid="45" grpId="0" build="allAtOnce" animBg="1"/>
      <p:bldP spid="46" grpId="0" build="allAtOnce" animBg="1"/>
      <p:bldP spid="48" grpId="0" build="allAtOnce" animBg="1"/>
      <p:bldP spid="49" grpId="0" build="allAtOnce" animBg="1"/>
      <p:bldP spid="51" grpId="0" build="allAtOnce" animBg="1"/>
      <p:bldP spid="52" grpId="0" build="allAtOnce" animBg="1"/>
      <p:bldP spid="53" grpId="0" build="allAtOnce" animBg="1"/>
      <p:bldP spid="55" grpId="0" build="allAtOnce" animBg="1"/>
      <p:bldP spid="56" grpId="0" build="allAtOnce" animBg="1"/>
      <p:bldP spid="57" grpId="0" build="allAtOnce" animBg="1"/>
      <p:bldP spid="58" grpId="0" build="allAtOnce" animBg="1"/>
      <p:bldP spid="59" grpId="0" build="allAtOnce" animBg="1"/>
      <p:bldP spid="60" grpId="0" build="allAtOnce" animBg="1"/>
      <p:bldP spid="61" grpId="0" build="allAtOnce" animBg="1"/>
      <p:bldP spid="63" grpId="0" build="allAtOnce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D9577-2ACB-64BE-4E43-5400757897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0B4C2BB-E3B3-E2E1-414E-D2C5397F912D}"/>
              </a:ext>
            </a:extLst>
          </p:cNvPr>
          <p:cNvSpPr txBox="1"/>
          <p:nvPr/>
        </p:nvSpPr>
        <p:spPr>
          <a:xfrm>
            <a:off x="428451" y="180600"/>
            <a:ext cx="6433158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6600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Задача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F54080-B7EB-44E3-CF18-3569C96B2BAE}"/>
              </a:ext>
            </a:extLst>
          </p:cNvPr>
          <p:cNvSpPr txBox="1"/>
          <p:nvPr/>
        </p:nvSpPr>
        <p:spPr>
          <a:xfrm>
            <a:off x="7616142" y="6396335"/>
            <a:ext cx="45758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2400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Решение 18, 23 задач</a:t>
            </a:r>
          </a:p>
        </p:txBody>
      </p:sp>
      <p:grpSp>
        <p:nvGrpSpPr>
          <p:cNvPr id="22" name="Группа 21">
            <a:extLst>
              <a:ext uri="{FF2B5EF4-FFF2-40B4-BE49-F238E27FC236}">
                <a16:creationId xmlns:a16="http://schemas.microsoft.com/office/drawing/2014/main" id="{9A8E902F-E020-77E9-80E8-BC72FC887FAE}"/>
              </a:ext>
            </a:extLst>
          </p:cNvPr>
          <p:cNvGrpSpPr/>
          <p:nvPr/>
        </p:nvGrpSpPr>
        <p:grpSpPr>
          <a:xfrm>
            <a:off x="10734256" y="180600"/>
            <a:ext cx="1272362" cy="438394"/>
            <a:chOff x="4412934" y="4444663"/>
            <a:chExt cx="2691816" cy="927470"/>
          </a:xfrm>
        </p:grpSpPr>
        <p:pic>
          <p:nvPicPr>
            <p:cNvPr id="1028" name="Picture 4" descr="ЕГЭ">
              <a:extLst>
                <a:ext uri="{FF2B5EF4-FFF2-40B4-BE49-F238E27FC236}">
                  <a16:creationId xmlns:a16="http://schemas.microsoft.com/office/drawing/2014/main" id="{76534816-18BA-7FE5-0727-74B7675C610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4042"/>
            <a:stretch>
              <a:fillRect/>
            </a:stretch>
          </p:blipFill>
          <p:spPr bwMode="auto">
            <a:xfrm>
              <a:off x="4412934" y="4444663"/>
              <a:ext cx="1083626" cy="9274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" name="Знак умножения 19">
              <a:extLst>
                <a:ext uri="{FF2B5EF4-FFF2-40B4-BE49-F238E27FC236}">
                  <a16:creationId xmlns:a16="http://schemas.microsoft.com/office/drawing/2014/main" id="{F76AA34E-5FDD-03B6-BA94-6672EDA63A75}"/>
                </a:ext>
              </a:extLst>
            </p:cNvPr>
            <p:cNvSpPr/>
            <p:nvPr/>
          </p:nvSpPr>
          <p:spPr>
            <a:xfrm>
              <a:off x="5577840" y="4682490"/>
              <a:ext cx="518160" cy="461665"/>
            </a:xfrm>
            <a:prstGeom prst="mathMultiply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21" name="Picture 6">
              <a:extLst>
                <a:ext uri="{FF2B5EF4-FFF2-40B4-BE49-F238E27FC236}">
                  <a16:creationId xmlns:a16="http://schemas.microsoft.com/office/drawing/2014/main" id="{4DFCE5FF-503B-4B07-9B5F-E2BC64ED10D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77280" y="4444663"/>
              <a:ext cx="927470" cy="9274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25FD1418-9D33-5EBF-7737-7B14D6242D7C}"/>
              </a:ext>
            </a:extLst>
          </p:cNvPr>
          <p:cNvSpPr txBox="1"/>
          <p:nvPr/>
        </p:nvSpPr>
        <p:spPr>
          <a:xfrm>
            <a:off x="6344851" y="374582"/>
            <a:ext cx="38762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Напишем код:</a:t>
            </a:r>
          </a:p>
        </p:txBody>
      </p:sp>
      <p:pic>
        <p:nvPicPr>
          <p:cNvPr id="1026" name="Рисунок 1025">
            <a:extLst>
              <a:ext uri="{FF2B5EF4-FFF2-40B4-BE49-F238E27FC236}">
                <a16:creationId xmlns:a16="http://schemas.microsoft.com/office/drawing/2014/main" id="{676B8A49-6856-0B0C-F13B-99523BD1502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40269" y="411941"/>
            <a:ext cx="704582" cy="571612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B5662F70-95DD-A2C8-E72E-7EBFF80A6543}"/>
              </a:ext>
            </a:extLst>
          </p:cNvPr>
          <p:cNvSpPr txBox="1"/>
          <p:nvPr/>
        </p:nvSpPr>
        <p:spPr>
          <a:xfrm>
            <a:off x="517756" y="1214894"/>
            <a:ext cx="6141720" cy="53133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MAX_STEPS =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endParaRPr lang="en-US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729098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b="0" dirty="0">
                <a:solidFill>
                  <a:srgbClr val="729098"/>
                </a:solidFill>
                <a:effectLst/>
                <a:latin typeface="Consolas" panose="020B0609020204030204" pitchFamily="49" charset="0"/>
              </a:rPr>
              <a:t>Максимальное количество шагов</a:t>
            </a:r>
            <a:endParaRPr lang="ru-RU" dirty="0">
              <a:solidFill>
                <a:srgbClr val="BFD4E1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ru-RU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TARGET =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80</a:t>
            </a:r>
            <a:endParaRPr lang="en-US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729098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b="0" dirty="0">
                <a:solidFill>
                  <a:srgbClr val="729098"/>
                </a:solidFill>
                <a:effectLst/>
                <a:latin typeface="Consolas" panose="020B0609020204030204" pitchFamily="49" charset="0"/>
              </a:rPr>
              <a:t>Целевое число, которое нужно получить</a:t>
            </a:r>
            <a:endParaRPr lang="ru-RU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ru-RU" dirty="0">
              <a:solidFill>
                <a:srgbClr val="BFD4E1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E9CA5C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9AEBA"/>
                </a:solidFill>
                <a:effectLst/>
                <a:latin typeface="Consolas" panose="020B0609020204030204" pitchFamily="49" charset="0"/>
              </a:rPr>
              <a:t>predecessors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63B0C6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):</a:t>
            </a:r>
            <a:endParaRPr lang="en-US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EE397"/>
                </a:solidFill>
                <a:effectLst/>
                <a:latin typeface="Consolas" panose="020B0609020204030204" pitchFamily="49" charset="0"/>
              </a:rPr>
              <a:t>"""</a:t>
            </a:r>
            <a:endParaRPr lang="en-US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CEE397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>
                <a:solidFill>
                  <a:srgbClr val="CEE397"/>
                </a:solidFill>
                <a:effectLst/>
                <a:latin typeface="Consolas" panose="020B0609020204030204" pitchFamily="49" charset="0"/>
              </a:rPr>
              <a:t>Функция возвращает все числа, из которых можно получить число </a:t>
            </a:r>
            <a:r>
              <a:rPr lang="en-US" b="0" dirty="0">
                <a:solidFill>
                  <a:srgbClr val="CEE397"/>
                </a:solidFill>
                <a:effectLst/>
                <a:latin typeface="Consolas" panose="020B0609020204030204" pitchFamily="49" charset="0"/>
              </a:rPr>
              <a:t>n </a:t>
            </a:r>
            <a:r>
              <a:rPr lang="ru-RU" b="0" dirty="0">
                <a:solidFill>
                  <a:srgbClr val="CEE397"/>
                </a:solidFill>
                <a:effectLst/>
                <a:latin typeface="Consolas" panose="020B0609020204030204" pitchFamily="49" charset="0"/>
              </a:rPr>
              <a:t>за один шаг.</a:t>
            </a:r>
            <a:endParaRPr lang="ru-RU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ru-RU" b="0" dirty="0">
                <a:solidFill>
                  <a:srgbClr val="CEE397"/>
                </a:solidFill>
                <a:effectLst/>
                <a:latin typeface="Consolas" panose="020B0609020204030204" pitchFamily="49" charset="0"/>
              </a:rPr>
              <a:t>    Это обратные переходы для каждой команды:</a:t>
            </a:r>
            <a:endParaRPr lang="ru-RU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ru-RU" b="0" dirty="0">
                <a:solidFill>
                  <a:srgbClr val="CEE397"/>
                </a:solidFill>
                <a:effectLst/>
                <a:latin typeface="Consolas" panose="020B0609020204030204" pitchFamily="49" charset="0"/>
              </a:rPr>
              <a:t>    """</a:t>
            </a:r>
            <a:endParaRPr lang="ru-RU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prev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B5B5AD"/>
                </a:solidFill>
                <a:effectLst/>
                <a:latin typeface="Consolas" panose="020B0609020204030204" pitchFamily="49" charset="0"/>
              </a:rPr>
              <a:t>set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  </a:t>
            </a:r>
            <a:r>
              <a:rPr lang="en-US" b="0" dirty="0">
                <a:solidFill>
                  <a:srgbClr val="729098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b="0" dirty="0">
                <a:solidFill>
                  <a:srgbClr val="729098"/>
                </a:solidFill>
                <a:effectLst/>
                <a:latin typeface="Consolas" panose="020B0609020204030204" pitchFamily="49" charset="0"/>
              </a:rPr>
              <a:t>предыдущие числа</a:t>
            </a:r>
            <a:endParaRPr lang="ru-RU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endParaRPr lang="ru-RU" dirty="0">
              <a:solidFill>
                <a:srgbClr val="BFD4E1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E9CA5C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n -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&gt;=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prev.add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(n -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endParaRPr lang="ru-RU" dirty="0">
              <a:solidFill>
                <a:srgbClr val="BFD4E1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E9CA5C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n %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prev.add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(n //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endParaRPr lang="en-US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E9CA5C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r </a:t>
            </a:r>
            <a:r>
              <a:rPr lang="en-US" b="0" dirty="0">
                <a:solidFill>
                  <a:srgbClr val="E9CA5C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9AEBA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):  </a:t>
            </a:r>
            <a:r>
              <a:rPr lang="en-US" b="0" dirty="0">
                <a:solidFill>
                  <a:srgbClr val="729098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b="0" dirty="0">
                <a:solidFill>
                  <a:srgbClr val="729098"/>
                </a:solidFill>
                <a:effectLst/>
                <a:latin typeface="Consolas" panose="020B0609020204030204" pitchFamily="49" charset="0"/>
              </a:rPr>
              <a:t>остаток от деления от 0 до 3 (</a:t>
            </a:r>
            <a:r>
              <a:rPr lang="ru-RU" b="0" dirty="0" err="1">
                <a:solidFill>
                  <a:srgbClr val="729098"/>
                </a:solidFill>
                <a:effectLst/>
                <a:latin typeface="Consolas" panose="020B0609020204030204" pitchFamily="49" charset="0"/>
              </a:rPr>
              <a:t>включ</a:t>
            </a:r>
            <a:r>
              <a:rPr lang="ru-RU" b="0" dirty="0">
                <a:solidFill>
                  <a:srgbClr val="729098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endParaRPr lang="ru-RU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 = n – r</a:t>
            </a:r>
            <a:endParaRPr lang="ru-RU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US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E9CA5C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p &gt;=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9CA5C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p %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== r: </a:t>
            </a:r>
            <a:endParaRPr lang="en-US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prev.add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(p)</a:t>
            </a:r>
            <a:endParaRPr lang="en-US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endParaRPr lang="en-US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E9CA5C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prev</a:t>
            </a:r>
            <a:endParaRPr lang="en-US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1288702-F77E-6256-718C-EBCEAFB894D9}"/>
              </a:ext>
            </a:extLst>
          </p:cNvPr>
          <p:cNvSpPr txBox="1"/>
          <p:nvPr/>
        </p:nvSpPr>
        <p:spPr>
          <a:xfrm>
            <a:off x="6748781" y="1252254"/>
            <a:ext cx="6141720" cy="3697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all_numbers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B5B5AD"/>
                </a:solidFill>
                <a:effectLst/>
                <a:latin typeface="Consolas" panose="020B0609020204030204" pitchFamily="49" charset="0"/>
              </a:rPr>
              <a:t>set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([TARGET])  </a:t>
            </a:r>
            <a:r>
              <a:rPr lang="en-US" b="0" dirty="0">
                <a:solidFill>
                  <a:srgbClr val="729098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b="0" dirty="0">
                <a:solidFill>
                  <a:srgbClr val="729098"/>
                </a:solidFill>
                <a:effectLst/>
                <a:latin typeface="Consolas" panose="020B0609020204030204" pitchFamily="49" charset="0"/>
              </a:rPr>
              <a:t>начинаем с самого числа 80</a:t>
            </a:r>
            <a:endParaRPr lang="ru-RU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ru-RU" b="0" dirty="0">
                <a:solidFill>
                  <a:srgbClr val="BFD4E1"/>
                </a:solidFill>
                <a:effectLst/>
                <a:latin typeface="Consolas" panose="020B0609020204030204" pitchFamily="49" charset="0"/>
              </a:rPr>
            </a:br>
            <a:endParaRPr lang="ru-RU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current_level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B5B5AD"/>
                </a:solidFill>
                <a:effectLst/>
                <a:latin typeface="Consolas" panose="020B0609020204030204" pitchFamily="49" charset="0"/>
              </a:rPr>
              <a:t>set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([TARGET])</a:t>
            </a:r>
            <a:endParaRPr lang="en-US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BFD4E1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E9CA5C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step </a:t>
            </a:r>
            <a:r>
              <a:rPr lang="en-US" b="0" dirty="0">
                <a:solidFill>
                  <a:srgbClr val="E9CA5C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9AEBA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MAX_STEPS +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):</a:t>
            </a:r>
            <a:endParaRPr lang="en-US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next_level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B5B5AD"/>
                </a:solidFill>
                <a:effectLst/>
                <a:latin typeface="Consolas" panose="020B0609020204030204" pitchFamily="49" charset="0"/>
              </a:rPr>
              <a:t>set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E9CA5C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number </a:t>
            </a:r>
            <a:r>
              <a:rPr lang="en-US" b="0" dirty="0">
                <a:solidFill>
                  <a:srgbClr val="E9CA5C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current_level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preds = predecessors(number)</a:t>
            </a:r>
            <a:endParaRPr lang="en-US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next_level.update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(preds)</a:t>
            </a:r>
            <a:endParaRPr lang="en-US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all_numbers.update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next_level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current_level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next_level</a:t>
            </a:r>
            <a:endParaRPr lang="en-US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BFD4E1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result = </a:t>
            </a:r>
            <a:r>
              <a:rPr lang="en-US" b="0" dirty="0">
                <a:solidFill>
                  <a:srgbClr val="E9AEBA"/>
                </a:solidFill>
                <a:effectLst/>
                <a:latin typeface="Consolas" panose="020B0609020204030204" pitchFamily="49" charset="0"/>
              </a:rPr>
              <a:t>sorted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all_numbers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BFD4E1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E9AEB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9CA5C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b="0" dirty="0">
                <a:solidFill>
                  <a:srgbClr val="CEE397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b="0" dirty="0">
                <a:solidFill>
                  <a:srgbClr val="CEE397"/>
                </a:solidFill>
                <a:effectLst/>
                <a:latin typeface="Consolas" panose="020B0609020204030204" pitchFamily="49" charset="0"/>
              </a:rPr>
              <a:t>Количество чисел: </a:t>
            </a:r>
            <a:r>
              <a:rPr lang="ru-RU" b="0" dirty="0">
                <a:solidFill>
                  <a:srgbClr val="E9CA5C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b="0" dirty="0" err="1">
                <a:solidFill>
                  <a:srgbClr val="E9AEBA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(result)</a:t>
            </a:r>
            <a:r>
              <a:rPr lang="en-US" b="0" dirty="0">
                <a:solidFill>
                  <a:srgbClr val="E9CA5C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b="0" dirty="0">
                <a:solidFill>
                  <a:srgbClr val="CEE397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192668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3A31C-6EB9-21BF-D978-1CEB6764F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2F7FC84-6569-8D79-C8C2-605CF9683933}"/>
              </a:ext>
            </a:extLst>
          </p:cNvPr>
          <p:cNvSpPr txBox="1"/>
          <p:nvPr/>
        </p:nvSpPr>
        <p:spPr>
          <a:xfrm>
            <a:off x="428451" y="180600"/>
            <a:ext cx="6433158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6600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Задача 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88CB907-C427-D02A-4B96-7AC2FAFAF669}"/>
              </a:ext>
            </a:extLst>
          </p:cNvPr>
          <p:cNvSpPr txBox="1"/>
          <p:nvPr/>
        </p:nvSpPr>
        <p:spPr>
          <a:xfrm>
            <a:off x="7616142" y="6396335"/>
            <a:ext cx="45758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2400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Решение 18, 23 задач</a:t>
            </a:r>
          </a:p>
        </p:txBody>
      </p:sp>
      <p:grpSp>
        <p:nvGrpSpPr>
          <p:cNvPr id="22" name="Группа 21">
            <a:extLst>
              <a:ext uri="{FF2B5EF4-FFF2-40B4-BE49-F238E27FC236}">
                <a16:creationId xmlns:a16="http://schemas.microsoft.com/office/drawing/2014/main" id="{58C4106D-9753-9D4D-51DB-144892020661}"/>
              </a:ext>
            </a:extLst>
          </p:cNvPr>
          <p:cNvGrpSpPr/>
          <p:nvPr/>
        </p:nvGrpSpPr>
        <p:grpSpPr>
          <a:xfrm>
            <a:off x="10734256" y="180600"/>
            <a:ext cx="1272362" cy="438394"/>
            <a:chOff x="4412934" y="4444663"/>
            <a:chExt cx="2691816" cy="927470"/>
          </a:xfrm>
        </p:grpSpPr>
        <p:pic>
          <p:nvPicPr>
            <p:cNvPr id="1028" name="Picture 4" descr="ЕГЭ">
              <a:extLst>
                <a:ext uri="{FF2B5EF4-FFF2-40B4-BE49-F238E27FC236}">
                  <a16:creationId xmlns:a16="http://schemas.microsoft.com/office/drawing/2014/main" id="{70B34388-0BEF-6ADD-005F-67800D166E0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4042"/>
            <a:stretch>
              <a:fillRect/>
            </a:stretch>
          </p:blipFill>
          <p:spPr bwMode="auto">
            <a:xfrm>
              <a:off x="4412934" y="4444663"/>
              <a:ext cx="1083626" cy="9274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" name="Знак умножения 19">
              <a:extLst>
                <a:ext uri="{FF2B5EF4-FFF2-40B4-BE49-F238E27FC236}">
                  <a16:creationId xmlns:a16="http://schemas.microsoft.com/office/drawing/2014/main" id="{BCA106B4-B3C8-EF1E-5D06-E7C47674D279}"/>
                </a:ext>
              </a:extLst>
            </p:cNvPr>
            <p:cNvSpPr/>
            <p:nvPr/>
          </p:nvSpPr>
          <p:spPr>
            <a:xfrm>
              <a:off x="5577840" y="4682490"/>
              <a:ext cx="518160" cy="461665"/>
            </a:xfrm>
            <a:prstGeom prst="mathMultiply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21" name="Picture 6">
              <a:extLst>
                <a:ext uri="{FF2B5EF4-FFF2-40B4-BE49-F238E27FC236}">
                  <a16:creationId xmlns:a16="http://schemas.microsoft.com/office/drawing/2014/main" id="{6CB810F0-CCFF-F386-A49B-BE54B33A3AB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77280" y="4444663"/>
              <a:ext cx="927470" cy="9274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06CDC4A-7421-CB53-3C13-AC2B0A0CCBA7}"/>
              </a:ext>
            </a:extLst>
          </p:cNvPr>
          <p:cNvSpPr txBox="1"/>
          <p:nvPr/>
        </p:nvSpPr>
        <p:spPr>
          <a:xfrm>
            <a:off x="1203767" y="1245507"/>
            <a:ext cx="10203574" cy="4862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Условие:</a:t>
            </a:r>
          </a:p>
          <a:p>
            <a:r>
              <a:rPr lang="ru-RU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Квадрат разлинован на N×N клеток (1 &lt; N &lt; 20). Исполнитель Буквоед может перемещаться по клеткам, выполняя за одно перемещение одну из двух команд: вправо или вниз. По команде вправо Буквоед перемещается в соседнюю правую клетку, по команде вниз – в соседнюю нижнюю. При попытке пересечь границы квадрата, обозначенные жирными линиями, Буквоед разрушается. В каждой клетке квадрата записано число от 10 до 99 или латинская буква P. Посетив клетку, Буквоед платит за её посещение, плата равна значению числа в клетке; это также относится к начальной и конечной точке маршрута. За посещение клетки P плата не взимается. Определите минимальную и максимальную плату, которую заплатит Буквоед, пройдя из левой верхней клетки в правую нижнюю, при этом маршрут должен проходить через две клетки P. В ответе укажите два числа – сначала минимальную, затем максимальную плату. Исходные данные для Буквоеда записаны в файле в виде прямоугольной таблицы, каждая ячейка которой соответствует клетке квадрата. 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038C3DB-3C89-BA51-6922-501E9E91A4A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8001" y="1288596"/>
            <a:ext cx="545766" cy="757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386982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96DAD0-E60F-C1F8-E97B-D1496D8A34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06B0233-718B-A824-4E74-B5028E5F3614}"/>
              </a:ext>
            </a:extLst>
          </p:cNvPr>
          <p:cNvSpPr txBox="1"/>
          <p:nvPr/>
        </p:nvSpPr>
        <p:spPr>
          <a:xfrm>
            <a:off x="428451" y="180600"/>
            <a:ext cx="6433158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6600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Задача 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F9CBF5-23CF-EFFF-4CCD-B49B317CEB47}"/>
              </a:ext>
            </a:extLst>
          </p:cNvPr>
          <p:cNvSpPr txBox="1"/>
          <p:nvPr/>
        </p:nvSpPr>
        <p:spPr>
          <a:xfrm>
            <a:off x="7616142" y="6396335"/>
            <a:ext cx="45758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2400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Решение 18, 23 задач</a:t>
            </a:r>
          </a:p>
        </p:txBody>
      </p:sp>
      <p:grpSp>
        <p:nvGrpSpPr>
          <p:cNvPr id="22" name="Группа 21">
            <a:extLst>
              <a:ext uri="{FF2B5EF4-FFF2-40B4-BE49-F238E27FC236}">
                <a16:creationId xmlns:a16="http://schemas.microsoft.com/office/drawing/2014/main" id="{D53CADD6-6C5C-935F-6EE6-083EB9BAE1DE}"/>
              </a:ext>
            </a:extLst>
          </p:cNvPr>
          <p:cNvGrpSpPr/>
          <p:nvPr/>
        </p:nvGrpSpPr>
        <p:grpSpPr>
          <a:xfrm>
            <a:off x="10734256" y="180600"/>
            <a:ext cx="1272362" cy="438394"/>
            <a:chOff x="4412934" y="4444663"/>
            <a:chExt cx="2691816" cy="927470"/>
          </a:xfrm>
        </p:grpSpPr>
        <p:pic>
          <p:nvPicPr>
            <p:cNvPr id="1028" name="Picture 4" descr="ЕГЭ">
              <a:extLst>
                <a:ext uri="{FF2B5EF4-FFF2-40B4-BE49-F238E27FC236}">
                  <a16:creationId xmlns:a16="http://schemas.microsoft.com/office/drawing/2014/main" id="{22017878-D351-7351-B209-375F21F0797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4042"/>
            <a:stretch>
              <a:fillRect/>
            </a:stretch>
          </p:blipFill>
          <p:spPr bwMode="auto">
            <a:xfrm>
              <a:off x="4412934" y="4444663"/>
              <a:ext cx="1083626" cy="9274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" name="Знак умножения 19">
              <a:extLst>
                <a:ext uri="{FF2B5EF4-FFF2-40B4-BE49-F238E27FC236}">
                  <a16:creationId xmlns:a16="http://schemas.microsoft.com/office/drawing/2014/main" id="{30CFA306-C974-131A-48F4-5650B49F6777}"/>
                </a:ext>
              </a:extLst>
            </p:cNvPr>
            <p:cNvSpPr/>
            <p:nvPr/>
          </p:nvSpPr>
          <p:spPr>
            <a:xfrm>
              <a:off x="5577840" y="4682490"/>
              <a:ext cx="518160" cy="461665"/>
            </a:xfrm>
            <a:prstGeom prst="mathMultiply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21" name="Picture 6">
              <a:extLst>
                <a:ext uri="{FF2B5EF4-FFF2-40B4-BE49-F238E27FC236}">
                  <a16:creationId xmlns:a16="http://schemas.microsoft.com/office/drawing/2014/main" id="{96BB210A-5294-D349-52D9-913EFC7B451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77280" y="4444663"/>
              <a:ext cx="927470" cy="9274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CA16B538-D80C-5497-351B-616F5FDE32D3}"/>
              </a:ext>
            </a:extLst>
          </p:cNvPr>
          <p:cNvSpPr txBox="1"/>
          <p:nvPr/>
        </p:nvSpPr>
        <p:spPr>
          <a:xfrm>
            <a:off x="1203767" y="1245507"/>
            <a:ext cx="10203574" cy="3293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Идея:</a:t>
            </a:r>
          </a:p>
          <a:p>
            <a:pPr marL="514350" indent="-514350" algn="just">
              <a:buAutoNum type="arabicPeriod"/>
            </a:pPr>
            <a:r>
              <a:rPr lang="ru-RU" sz="2400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Нам известны координаты </a:t>
            </a:r>
            <a:r>
              <a:rPr lang="en-US" sz="2400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P-</a:t>
            </a:r>
            <a:r>
              <a:rPr lang="ru-RU" sz="2400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точек. Заменим из значения в массиве на 0 (бесплатные), зафиксируем из координаты: </a:t>
            </a:r>
            <a:r>
              <a:rPr lang="en-US" sz="2400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(3, 11) (11, 2) (13, 15)</a:t>
            </a:r>
            <a:endParaRPr lang="ru-RU" sz="2400" dirty="0"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  <a:p>
            <a:pPr marL="514350" indent="-514350" algn="just">
              <a:buAutoNum type="arabicPeriod"/>
            </a:pPr>
            <a:r>
              <a:rPr lang="ru-RU" sz="2400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Рассмотрим реализацию задачи как двумерное динамическое программирование</a:t>
            </a:r>
          </a:p>
          <a:p>
            <a:pPr marL="514350" indent="-514350" algn="just">
              <a:buAutoNum type="arabicPeriod"/>
            </a:pPr>
            <a:r>
              <a:rPr lang="ru-RU" sz="2400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Найдём перестановки всех </a:t>
            </a:r>
            <a:r>
              <a:rPr lang="en-US" sz="2400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P (P1, P2, P3) </a:t>
            </a:r>
            <a:r>
              <a:rPr lang="ru-RU" sz="2400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и найдём все максимальные и минимальные (по стоимости маршруты)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3ECC09D-A048-1EFC-931C-6C322CC366E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40443" y="1245507"/>
            <a:ext cx="763324" cy="843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018334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917856-8372-B900-DFAD-3018C967D8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1F53337-16FC-FF46-B358-656815461BA3}"/>
              </a:ext>
            </a:extLst>
          </p:cNvPr>
          <p:cNvSpPr txBox="1"/>
          <p:nvPr/>
        </p:nvSpPr>
        <p:spPr>
          <a:xfrm>
            <a:off x="428451" y="180600"/>
            <a:ext cx="6433158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6600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Задача 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BA910E-F158-7421-4A41-3B3239400CB6}"/>
              </a:ext>
            </a:extLst>
          </p:cNvPr>
          <p:cNvSpPr txBox="1"/>
          <p:nvPr/>
        </p:nvSpPr>
        <p:spPr>
          <a:xfrm>
            <a:off x="7616142" y="6396335"/>
            <a:ext cx="45758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2400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Решение 18, 23 задач</a:t>
            </a:r>
          </a:p>
        </p:txBody>
      </p:sp>
      <p:grpSp>
        <p:nvGrpSpPr>
          <p:cNvPr id="22" name="Группа 21">
            <a:extLst>
              <a:ext uri="{FF2B5EF4-FFF2-40B4-BE49-F238E27FC236}">
                <a16:creationId xmlns:a16="http://schemas.microsoft.com/office/drawing/2014/main" id="{3F95F36F-1C21-9114-CCF8-69B5F121A740}"/>
              </a:ext>
            </a:extLst>
          </p:cNvPr>
          <p:cNvGrpSpPr/>
          <p:nvPr/>
        </p:nvGrpSpPr>
        <p:grpSpPr>
          <a:xfrm>
            <a:off x="10734256" y="180600"/>
            <a:ext cx="1272362" cy="438394"/>
            <a:chOff x="4412934" y="4444663"/>
            <a:chExt cx="2691816" cy="927470"/>
          </a:xfrm>
        </p:grpSpPr>
        <p:pic>
          <p:nvPicPr>
            <p:cNvPr id="1028" name="Picture 4" descr="ЕГЭ">
              <a:extLst>
                <a:ext uri="{FF2B5EF4-FFF2-40B4-BE49-F238E27FC236}">
                  <a16:creationId xmlns:a16="http://schemas.microsoft.com/office/drawing/2014/main" id="{DD500C95-387B-5F8E-8489-51053D8B8E8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4042"/>
            <a:stretch>
              <a:fillRect/>
            </a:stretch>
          </p:blipFill>
          <p:spPr bwMode="auto">
            <a:xfrm>
              <a:off x="4412934" y="4444663"/>
              <a:ext cx="1083626" cy="9274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" name="Знак умножения 19">
              <a:extLst>
                <a:ext uri="{FF2B5EF4-FFF2-40B4-BE49-F238E27FC236}">
                  <a16:creationId xmlns:a16="http://schemas.microsoft.com/office/drawing/2014/main" id="{012B6EAA-FC5C-77A9-9FBE-A097ACD199A6}"/>
                </a:ext>
              </a:extLst>
            </p:cNvPr>
            <p:cNvSpPr/>
            <p:nvPr/>
          </p:nvSpPr>
          <p:spPr>
            <a:xfrm>
              <a:off x="5577840" y="4682490"/>
              <a:ext cx="518160" cy="461665"/>
            </a:xfrm>
            <a:prstGeom prst="mathMultiply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21" name="Picture 6">
              <a:extLst>
                <a:ext uri="{FF2B5EF4-FFF2-40B4-BE49-F238E27FC236}">
                  <a16:creationId xmlns:a16="http://schemas.microsoft.com/office/drawing/2014/main" id="{9DA461A5-50C0-C6BA-7B9B-A2B0BBB5EFC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77280" y="4444663"/>
              <a:ext cx="927470" cy="9274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B29EB6C3-28B3-331D-2873-5F6E1B1936E2}"/>
              </a:ext>
            </a:extLst>
          </p:cNvPr>
          <p:cNvSpPr txBox="1"/>
          <p:nvPr/>
        </p:nvSpPr>
        <p:spPr>
          <a:xfrm>
            <a:off x="1203767" y="1245507"/>
            <a:ext cx="194454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Решим:</a:t>
            </a:r>
          </a:p>
          <a:p>
            <a:endParaRPr lang="ru-RU" sz="2400" dirty="0"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  <a:p>
            <a:endParaRPr lang="ru-RU" sz="3600" dirty="0"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EDDE173-DE0B-800D-826A-A5CA17FC98C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54787" y="1245507"/>
            <a:ext cx="648980" cy="98016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04D2BD5-2E1C-23F3-E849-0C8752EF8BB8}"/>
              </a:ext>
            </a:extLst>
          </p:cNvPr>
          <p:cNvSpPr txBox="1"/>
          <p:nvPr/>
        </p:nvSpPr>
        <p:spPr>
          <a:xfrm>
            <a:off x="2633555" y="2267348"/>
            <a:ext cx="6924890" cy="3550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grid = [</a:t>
            </a:r>
          </a:p>
          <a:p>
            <a:pPr>
              <a:lnSpc>
                <a:spcPts val="1425"/>
              </a:lnSpc>
              <a:buNone/>
            </a:pPr>
            <a:endParaRPr lang="en-US" sz="360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US" sz="3600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[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93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31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48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],</a:t>
            </a:r>
          </a:p>
          <a:p>
            <a:pPr>
              <a:lnSpc>
                <a:spcPts val="1425"/>
              </a:lnSpc>
              <a:buNone/>
            </a:pPr>
            <a:endParaRPr lang="en-US" sz="36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US" sz="3600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[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46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82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71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76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],</a:t>
            </a:r>
          </a:p>
          <a:p>
            <a:pPr>
              <a:lnSpc>
                <a:spcPts val="1425"/>
              </a:lnSpc>
              <a:buNone/>
            </a:pPr>
            <a:endParaRPr lang="en-US" sz="36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US" sz="3600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[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34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41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17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87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66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],</a:t>
            </a:r>
          </a:p>
          <a:p>
            <a:pPr>
              <a:lnSpc>
                <a:spcPts val="1425"/>
              </a:lnSpc>
              <a:buNone/>
            </a:pPr>
            <a:endParaRPr lang="en-US" sz="36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US" sz="3600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[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55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72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],</a:t>
            </a:r>
          </a:p>
          <a:p>
            <a:pPr>
              <a:lnSpc>
                <a:spcPts val="1425"/>
              </a:lnSpc>
              <a:buNone/>
            </a:pPr>
            <a:endParaRPr lang="en-US" sz="36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US" sz="3600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[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94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75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87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56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</a:t>
            </a:r>
            <a:endParaRPr lang="en-US" sz="3600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US" sz="36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US" sz="360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</a:t>
            </a:r>
            <a:endParaRPr lang="en-US" sz="3600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451722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7EBB2C-DD81-ED00-6838-EC3804124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141AC41-BCA0-4D32-4FC3-65BA5938FC6A}"/>
              </a:ext>
            </a:extLst>
          </p:cNvPr>
          <p:cNvSpPr txBox="1"/>
          <p:nvPr/>
        </p:nvSpPr>
        <p:spPr>
          <a:xfrm>
            <a:off x="428451" y="180600"/>
            <a:ext cx="6433158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6600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Задача </a:t>
            </a:r>
            <a:r>
              <a:rPr lang="en-US" sz="660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2</a:t>
            </a:r>
            <a:endParaRPr lang="ru-RU" sz="6600" dirty="0">
              <a:latin typeface="JetBrains Mono NL" panose="02000009000000000000" pitchFamily="49" charset="0"/>
              <a:ea typeface="JetBrains Mono NL" panose="02000009000000000000" pitchFamily="49" charset="0"/>
              <a:cs typeface="JetBrains Mono NL" panose="02000009000000000000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A03BB2-1618-DE13-6F8E-FC1CBACD2ABD}"/>
              </a:ext>
            </a:extLst>
          </p:cNvPr>
          <p:cNvSpPr txBox="1"/>
          <p:nvPr/>
        </p:nvSpPr>
        <p:spPr>
          <a:xfrm>
            <a:off x="7616142" y="6396335"/>
            <a:ext cx="45758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2400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Решение 18, 23 задач</a:t>
            </a:r>
          </a:p>
        </p:txBody>
      </p:sp>
      <p:grpSp>
        <p:nvGrpSpPr>
          <p:cNvPr id="22" name="Группа 21">
            <a:extLst>
              <a:ext uri="{FF2B5EF4-FFF2-40B4-BE49-F238E27FC236}">
                <a16:creationId xmlns:a16="http://schemas.microsoft.com/office/drawing/2014/main" id="{712E22BF-4358-8440-5AA7-5E8C2DAB385F}"/>
              </a:ext>
            </a:extLst>
          </p:cNvPr>
          <p:cNvGrpSpPr/>
          <p:nvPr/>
        </p:nvGrpSpPr>
        <p:grpSpPr>
          <a:xfrm>
            <a:off x="10734256" y="180600"/>
            <a:ext cx="1272362" cy="438394"/>
            <a:chOff x="4412934" y="4444663"/>
            <a:chExt cx="2691816" cy="927470"/>
          </a:xfrm>
        </p:grpSpPr>
        <p:pic>
          <p:nvPicPr>
            <p:cNvPr id="1028" name="Picture 4" descr="ЕГЭ">
              <a:extLst>
                <a:ext uri="{FF2B5EF4-FFF2-40B4-BE49-F238E27FC236}">
                  <a16:creationId xmlns:a16="http://schemas.microsoft.com/office/drawing/2014/main" id="{F7E099D4-BBEB-673B-C6C3-0351A08F872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4042"/>
            <a:stretch>
              <a:fillRect/>
            </a:stretch>
          </p:blipFill>
          <p:spPr bwMode="auto">
            <a:xfrm>
              <a:off x="4412934" y="4444663"/>
              <a:ext cx="1083626" cy="9274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" name="Знак умножения 19">
              <a:extLst>
                <a:ext uri="{FF2B5EF4-FFF2-40B4-BE49-F238E27FC236}">
                  <a16:creationId xmlns:a16="http://schemas.microsoft.com/office/drawing/2014/main" id="{B5B2B7A5-FC02-86AC-EEEC-33E12EBAC925}"/>
                </a:ext>
              </a:extLst>
            </p:cNvPr>
            <p:cNvSpPr/>
            <p:nvPr/>
          </p:nvSpPr>
          <p:spPr>
            <a:xfrm>
              <a:off x="5577840" y="4682490"/>
              <a:ext cx="518160" cy="461665"/>
            </a:xfrm>
            <a:prstGeom prst="mathMultiply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21" name="Picture 6">
              <a:extLst>
                <a:ext uri="{FF2B5EF4-FFF2-40B4-BE49-F238E27FC236}">
                  <a16:creationId xmlns:a16="http://schemas.microsoft.com/office/drawing/2014/main" id="{8ED3FF0A-5D37-C870-A5F6-0607FE7F544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77280" y="4444663"/>
              <a:ext cx="927470" cy="9274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824BC025-B922-9DEB-DC0E-A4263DDC86ED}"/>
              </a:ext>
            </a:extLst>
          </p:cNvPr>
          <p:cNvSpPr txBox="1"/>
          <p:nvPr/>
        </p:nvSpPr>
        <p:spPr>
          <a:xfrm>
            <a:off x="6344851" y="374582"/>
            <a:ext cx="38762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Напишем код:</a:t>
            </a:r>
          </a:p>
        </p:txBody>
      </p:sp>
      <p:pic>
        <p:nvPicPr>
          <p:cNvPr id="1026" name="Рисунок 1025">
            <a:extLst>
              <a:ext uri="{FF2B5EF4-FFF2-40B4-BE49-F238E27FC236}">
                <a16:creationId xmlns:a16="http://schemas.microsoft.com/office/drawing/2014/main" id="{85EBE1CB-42E7-1E54-F173-555E5AF4ADB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40269" y="411941"/>
            <a:ext cx="704582" cy="571612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18A1BDC7-8ECC-9C49-27F6-C0A5C876C71D}"/>
              </a:ext>
            </a:extLst>
          </p:cNvPr>
          <p:cNvSpPr txBox="1"/>
          <p:nvPr/>
        </p:nvSpPr>
        <p:spPr>
          <a:xfrm>
            <a:off x="517756" y="1214894"/>
            <a:ext cx="6141720" cy="53133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MAX_STEPS =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endParaRPr lang="en-US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729098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b="0" dirty="0">
                <a:solidFill>
                  <a:srgbClr val="729098"/>
                </a:solidFill>
                <a:effectLst/>
                <a:latin typeface="Consolas" panose="020B0609020204030204" pitchFamily="49" charset="0"/>
              </a:rPr>
              <a:t>Максимальное количество шагов</a:t>
            </a:r>
            <a:endParaRPr lang="ru-RU" dirty="0">
              <a:solidFill>
                <a:srgbClr val="BFD4E1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ru-RU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TARGET =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80</a:t>
            </a:r>
            <a:endParaRPr lang="en-US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729098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b="0" dirty="0">
                <a:solidFill>
                  <a:srgbClr val="729098"/>
                </a:solidFill>
                <a:effectLst/>
                <a:latin typeface="Consolas" panose="020B0609020204030204" pitchFamily="49" charset="0"/>
              </a:rPr>
              <a:t>Целевое число, которое нужно получить</a:t>
            </a:r>
            <a:endParaRPr lang="ru-RU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ru-RU" dirty="0">
              <a:solidFill>
                <a:srgbClr val="BFD4E1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E9CA5C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9AEBA"/>
                </a:solidFill>
                <a:effectLst/>
                <a:latin typeface="Consolas" panose="020B0609020204030204" pitchFamily="49" charset="0"/>
              </a:rPr>
              <a:t>predecessors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63B0C6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):</a:t>
            </a:r>
            <a:endParaRPr lang="en-US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EE397"/>
                </a:solidFill>
                <a:effectLst/>
                <a:latin typeface="Consolas" panose="020B0609020204030204" pitchFamily="49" charset="0"/>
              </a:rPr>
              <a:t>"""</a:t>
            </a:r>
            <a:endParaRPr lang="en-US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CEE397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>
                <a:solidFill>
                  <a:srgbClr val="CEE397"/>
                </a:solidFill>
                <a:effectLst/>
                <a:latin typeface="Consolas" panose="020B0609020204030204" pitchFamily="49" charset="0"/>
              </a:rPr>
              <a:t>Функция возвращает все числа, из которых можно получить число </a:t>
            </a:r>
            <a:r>
              <a:rPr lang="en-US" b="0" dirty="0">
                <a:solidFill>
                  <a:srgbClr val="CEE397"/>
                </a:solidFill>
                <a:effectLst/>
                <a:latin typeface="Consolas" panose="020B0609020204030204" pitchFamily="49" charset="0"/>
              </a:rPr>
              <a:t>n </a:t>
            </a:r>
            <a:r>
              <a:rPr lang="ru-RU" b="0" dirty="0">
                <a:solidFill>
                  <a:srgbClr val="CEE397"/>
                </a:solidFill>
                <a:effectLst/>
                <a:latin typeface="Consolas" panose="020B0609020204030204" pitchFamily="49" charset="0"/>
              </a:rPr>
              <a:t>за один шаг.</a:t>
            </a:r>
            <a:endParaRPr lang="ru-RU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ru-RU" b="0" dirty="0">
                <a:solidFill>
                  <a:srgbClr val="CEE397"/>
                </a:solidFill>
                <a:effectLst/>
                <a:latin typeface="Consolas" panose="020B0609020204030204" pitchFamily="49" charset="0"/>
              </a:rPr>
              <a:t>    Это обратные переходы для каждой команды:</a:t>
            </a:r>
            <a:endParaRPr lang="ru-RU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ru-RU" b="0" dirty="0">
                <a:solidFill>
                  <a:srgbClr val="CEE397"/>
                </a:solidFill>
                <a:effectLst/>
                <a:latin typeface="Consolas" panose="020B0609020204030204" pitchFamily="49" charset="0"/>
              </a:rPr>
              <a:t>    """</a:t>
            </a:r>
            <a:endParaRPr lang="ru-RU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prev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B5B5AD"/>
                </a:solidFill>
                <a:effectLst/>
                <a:latin typeface="Consolas" panose="020B0609020204030204" pitchFamily="49" charset="0"/>
              </a:rPr>
              <a:t>set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  </a:t>
            </a:r>
            <a:r>
              <a:rPr lang="en-US" b="0" dirty="0">
                <a:solidFill>
                  <a:srgbClr val="729098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b="0" dirty="0">
                <a:solidFill>
                  <a:srgbClr val="729098"/>
                </a:solidFill>
                <a:effectLst/>
                <a:latin typeface="Consolas" panose="020B0609020204030204" pitchFamily="49" charset="0"/>
              </a:rPr>
              <a:t>предыдущие числа</a:t>
            </a:r>
            <a:endParaRPr lang="ru-RU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endParaRPr lang="ru-RU" dirty="0">
              <a:solidFill>
                <a:srgbClr val="BFD4E1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E9CA5C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n -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&gt;=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prev.add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(n -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endParaRPr lang="ru-RU" dirty="0">
              <a:solidFill>
                <a:srgbClr val="BFD4E1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E9CA5C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n %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prev.add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(n //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endParaRPr lang="en-US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E9CA5C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r </a:t>
            </a:r>
            <a:r>
              <a:rPr lang="en-US" b="0" dirty="0">
                <a:solidFill>
                  <a:srgbClr val="E9CA5C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9AEBA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):  </a:t>
            </a:r>
            <a:r>
              <a:rPr lang="en-US" b="0" dirty="0">
                <a:solidFill>
                  <a:srgbClr val="729098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b="0" dirty="0">
                <a:solidFill>
                  <a:srgbClr val="729098"/>
                </a:solidFill>
                <a:effectLst/>
                <a:latin typeface="Consolas" panose="020B0609020204030204" pitchFamily="49" charset="0"/>
              </a:rPr>
              <a:t>остаток от деления от 0 до 3 (</a:t>
            </a:r>
            <a:r>
              <a:rPr lang="ru-RU" b="0" dirty="0" err="1">
                <a:solidFill>
                  <a:srgbClr val="729098"/>
                </a:solidFill>
                <a:effectLst/>
                <a:latin typeface="Consolas" panose="020B0609020204030204" pitchFamily="49" charset="0"/>
              </a:rPr>
              <a:t>включ</a:t>
            </a:r>
            <a:r>
              <a:rPr lang="ru-RU" b="0" dirty="0">
                <a:solidFill>
                  <a:srgbClr val="729098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endParaRPr lang="ru-RU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 = n – r</a:t>
            </a:r>
            <a:endParaRPr lang="ru-RU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US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E9CA5C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p &gt;=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9CA5C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p %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== r: </a:t>
            </a:r>
            <a:endParaRPr lang="en-US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prev.add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(p)</a:t>
            </a:r>
            <a:endParaRPr lang="en-US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endParaRPr lang="en-US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E9CA5C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prev</a:t>
            </a:r>
            <a:endParaRPr lang="en-US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7ED6CD2-F2F1-82D1-9E3C-909B3DAE818C}"/>
              </a:ext>
            </a:extLst>
          </p:cNvPr>
          <p:cNvSpPr txBox="1"/>
          <p:nvPr/>
        </p:nvSpPr>
        <p:spPr>
          <a:xfrm>
            <a:off x="6748781" y="1252254"/>
            <a:ext cx="6141720" cy="3697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all_numbers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B5B5AD"/>
                </a:solidFill>
                <a:effectLst/>
                <a:latin typeface="Consolas" panose="020B0609020204030204" pitchFamily="49" charset="0"/>
              </a:rPr>
              <a:t>set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([TARGET])  </a:t>
            </a:r>
            <a:r>
              <a:rPr lang="en-US" b="0" dirty="0">
                <a:solidFill>
                  <a:srgbClr val="729098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b="0" dirty="0">
                <a:solidFill>
                  <a:srgbClr val="729098"/>
                </a:solidFill>
                <a:effectLst/>
                <a:latin typeface="Consolas" panose="020B0609020204030204" pitchFamily="49" charset="0"/>
              </a:rPr>
              <a:t>начинаем с самого числа 80</a:t>
            </a:r>
            <a:endParaRPr lang="ru-RU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ru-RU" b="0" dirty="0">
                <a:solidFill>
                  <a:srgbClr val="BFD4E1"/>
                </a:solidFill>
                <a:effectLst/>
                <a:latin typeface="Consolas" panose="020B0609020204030204" pitchFamily="49" charset="0"/>
              </a:rPr>
            </a:br>
            <a:endParaRPr lang="ru-RU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current_level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B5B5AD"/>
                </a:solidFill>
                <a:effectLst/>
                <a:latin typeface="Consolas" panose="020B0609020204030204" pitchFamily="49" charset="0"/>
              </a:rPr>
              <a:t>set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([TARGET])</a:t>
            </a:r>
            <a:endParaRPr lang="en-US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BFD4E1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E9CA5C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step </a:t>
            </a:r>
            <a:r>
              <a:rPr lang="en-US" b="0" dirty="0">
                <a:solidFill>
                  <a:srgbClr val="E9CA5C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9AEBA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MAX_STEPS +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):</a:t>
            </a:r>
            <a:endParaRPr lang="en-US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next_level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B5B5AD"/>
                </a:solidFill>
                <a:effectLst/>
                <a:latin typeface="Consolas" panose="020B0609020204030204" pitchFamily="49" charset="0"/>
              </a:rPr>
              <a:t>set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E9CA5C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number </a:t>
            </a:r>
            <a:r>
              <a:rPr lang="en-US" b="0" dirty="0">
                <a:solidFill>
                  <a:srgbClr val="E9CA5C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current_level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preds = predecessors(number)</a:t>
            </a:r>
            <a:endParaRPr lang="en-US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next_level.update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(preds)</a:t>
            </a:r>
            <a:endParaRPr lang="en-US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all_numbers.update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next_level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current_level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next_level</a:t>
            </a:r>
            <a:endParaRPr lang="en-US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BFD4E1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result = </a:t>
            </a:r>
            <a:r>
              <a:rPr lang="en-US" b="0" dirty="0">
                <a:solidFill>
                  <a:srgbClr val="E9AEBA"/>
                </a:solidFill>
                <a:effectLst/>
                <a:latin typeface="Consolas" panose="020B0609020204030204" pitchFamily="49" charset="0"/>
              </a:rPr>
              <a:t>sorted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all_numbers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BFD4E1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E9AEB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9CA5C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b="0" dirty="0">
                <a:solidFill>
                  <a:srgbClr val="CEE397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b="0" dirty="0">
                <a:solidFill>
                  <a:srgbClr val="CEE397"/>
                </a:solidFill>
                <a:effectLst/>
                <a:latin typeface="Consolas" panose="020B0609020204030204" pitchFamily="49" charset="0"/>
              </a:rPr>
              <a:t>Количество чисел: </a:t>
            </a:r>
            <a:r>
              <a:rPr lang="ru-RU" b="0" dirty="0">
                <a:solidFill>
                  <a:srgbClr val="E9CA5C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b="0" dirty="0" err="1">
                <a:solidFill>
                  <a:srgbClr val="E9AEBA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(result)</a:t>
            </a:r>
            <a:r>
              <a:rPr lang="en-US" b="0" dirty="0">
                <a:solidFill>
                  <a:srgbClr val="E9CA5C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b="0" dirty="0">
                <a:solidFill>
                  <a:srgbClr val="CEE397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b="0" dirty="0">
              <a:solidFill>
                <a:srgbClr val="BFD4E1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0582756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Тема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538D9D"/>
      </a:hlink>
      <a:folHlink>
        <a:srgbClr val="A5738E"/>
      </a:folHlink>
    </a:clrScheme>
    <a:fontScheme name="Тема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C0A3E416-13B0-4CFE-8B85-8989D8AEFB5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143</TotalTime>
  <Words>1075</Words>
  <Application>Microsoft Office PowerPoint</Application>
  <PresentationFormat>Широкоэкранный</PresentationFormat>
  <Paragraphs>198</Paragraphs>
  <Slides>11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7" baseType="lpstr">
      <vt:lpstr>Aptos</vt:lpstr>
      <vt:lpstr>Aptos Display</vt:lpstr>
      <vt:lpstr>Arial</vt:lpstr>
      <vt:lpstr>Consolas</vt:lpstr>
      <vt:lpstr>JetBrains Mono NL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Гриценко Глеб Михайлович</dc:creator>
  <cp:lastModifiedBy>Гриценко Глеб Михайлович</cp:lastModifiedBy>
  <cp:revision>110</cp:revision>
  <dcterms:created xsi:type="dcterms:W3CDTF">2025-11-23T17:20:56Z</dcterms:created>
  <dcterms:modified xsi:type="dcterms:W3CDTF">2025-11-23T19:43:59Z</dcterms:modified>
</cp:coreProperties>
</file>